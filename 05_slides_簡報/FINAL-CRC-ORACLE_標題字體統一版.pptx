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62" r:id="rId3"/>
    <p:sldMasterId id="2147483664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549"/>
    <p:restoredTop sz="96022"/>
  </p:normalViewPr>
  <p:slideViewPr>
    <p:cSldViewPr snapToGrid="0">
      <p:cViewPr varScale="1">
        <p:scale>
          <a:sx n="53" d="100"/>
          <a:sy n="53" d="100"/>
        </p:scale>
        <p:origin x="192" y="1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5年存活率</c:v>
                </c:pt>
              </c:strCache>
            </c:strRef>
          </c:tx>
          <c:spPr>
            <a:solidFill>
              <a:srgbClr val="0F5C8C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TW" sz="1000" b="0" i="0" u="none" strike="noStrike" kern="1200" baseline="0">
                    <a:solidFill>
                      <a:srgbClr val="1A2733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&lt;50</c:v>
                </c:pt>
                <c:pt idx="1">
                  <c:v>50-60</c:v>
                </c:pt>
                <c:pt idx="2">
                  <c:v>60-70</c:v>
                </c:pt>
                <c:pt idx="3">
                  <c:v>70-80</c:v>
                </c:pt>
                <c:pt idx="4">
                  <c:v>80+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0.74199999999999999</c:v>
                </c:pt>
                <c:pt idx="1">
                  <c:v>0.76800000000000002</c:v>
                </c:pt>
                <c:pt idx="2">
                  <c:v>0.76300000000000001</c:v>
                </c:pt>
                <c:pt idx="3">
                  <c:v>0.65500000000000003</c:v>
                </c:pt>
                <c:pt idx="4">
                  <c:v>0.45300000000000001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F8-9B44-8E8E-33E8E9CE59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TW" sz="1050" b="0" i="0" u="none" strike="noStrike" kern="1200" baseline="0">
                <a:solidFill>
                  <a:srgbClr val="1A2733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9525" cap="flat" cmpd="sng" algn="ctr">
              <a:solidFill>
                <a:srgbClr val="E7EB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TW" sz="900" b="0" i="0" u="none" strike="noStrike" kern="1200" baseline="0">
                <a:solidFill>
                  <a:srgbClr val="5B6B7A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</c:chart>
  <c:spPr>
    <a:noFill/>
    <a:ln>
      <a:noFill/>
    </a:ln>
    <a:effectLst/>
  </c:spPr>
  <c:txPr>
    <a:bodyPr/>
    <a:lstStyle/>
    <a:p>
      <a:pPr>
        <a:defRPr lang="zh-TW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Project title, subtitle, mentor, and team roster: supplied by the project lead.</a:t>
            </a:r>
          </a:p>
          <a:p>
            <a:r>
              <a:rPr dirty="0"/>
              <a:t>- Hero visual: AI-generated for this presentation; no patient data used.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Visible narrative: supplied by the project lead and refined for presentation clarity.</a:t>
            </a:r>
          </a:p>
          <a:p>
            <a:r>
              <a:rPr dirty="0"/>
              <a:t>- Variables shown reflect the project codebook.</a:t>
            </a:r>
          </a:p>
          <a:p>
            <a:r>
              <a:rPr dirty="0"/>
              <a:t>- Hero visual: AI-generated for this presentation; no patient data used.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按</a:t>
            </a:r>
            <a:r>
              <a:rPr dirty="0"/>
              <a:t> 4 </a:t>
            </a:r>
            <a:r>
              <a:rPr dirty="0" err="1"/>
              <a:t>下</a:t>
            </a:r>
            <a:r>
              <a:rPr dirty="0"/>
              <a:t>】</a:t>
            </a:r>
          </a:p>
          <a:p>
            <a:r>
              <a:rPr dirty="0"/>
              <a:t>1 </a:t>
            </a:r>
            <a:r>
              <a:rPr dirty="0" err="1"/>
              <a:t>上面</a:t>
            </a:r>
            <a:r>
              <a:rPr dirty="0"/>
              <a:t> KPI　2 </a:t>
            </a:r>
            <a:r>
              <a:rPr dirty="0" err="1"/>
              <a:t>曲線</a:t>
            </a:r>
            <a:r>
              <a:rPr dirty="0"/>
              <a:t>　3 </a:t>
            </a:r>
            <a:r>
              <a:rPr dirty="0" err="1"/>
              <a:t>年齡分層</a:t>
            </a:r>
            <a:r>
              <a:rPr dirty="0"/>
              <a:t>　4 </a:t>
            </a:r>
            <a:r>
              <a:rPr dirty="0" err="1"/>
              <a:t>誠實揭露</a:t>
            </a:r>
            <a:endParaRPr dirty="0"/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上台可以這樣講</a:t>
            </a:r>
            <a:r>
              <a:rPr dirty="0"/>
              <a:t>】</a:t>
            </a:r>
          </a:p>
          <a:p>
            <a:r>
              <a:rPr dirty="0" err="1"/>
              <a:t>同一位病人按下去之後，系統做的事情是：在</a:t>
            </a:r>
            <a:r>
              <a:rPr dirty="0"/>
              <a:t> FAMD </a:t>
            </a:r>
            <a:r>
              <a:rPr dirty="0" err="1"/>
              <a:t>的座標空間裡，從</a:t>
            </a:r>
            <a:r>
              <a:rPr dirty="0"/>
              <a:t> 12,196 </a:t>
            </a:r>
            <a:r>
              <a:rPr dirty="0" err="1"/>
              <a:t>位裡面</a:t>
            </a:r>
            <a:endParaRPr dirty="0"/>
          </a:p>
          <a:p>
            <a:r>
              <a:rPr dirty="0" err="1"/>
              <a:t>由近而遠撈人，撈到累積</a:t>
            </a:r>
            <a:r>
              <a:rPr dirty="0"/>
              <a:t> 20 </a:t>
            </a:r>
            <a:r>
              <a:rPr dirty="0" err="1"/>
              <a:t>個死亡事件才停</a:t>
            </a:r>
            <a:r>
              <a:rPr dirty="0"/>
              <a:t>——</a:t>
            </a:r>
            <a:r>
              <a:rPr dirty="0" err="1"/>
              <a:t>跟</a:t>
            </a:r>
            <a:r>
              <a:rPr dirty="0"/>
              <a:t> Sean </a:t>
            </a:r>
            <a:r>
              <a:rPr dirty="0" err="1"/>
              <a:t>剛剛講的規則是同一套</a:t>
            </a:r>
            <a:r>
              <a:rPr dirty="0"/>
              <a:t>。</a:t>
            </a:r>
          </a:p>
          <a:p>
            <a:r>
              <a:rPr dirty="0" err="1"/>
              <a:t>這次停在標準化距離</a:t>
            </a:r>
            <a:r>
              <a:rPr dirty="0"/>
              <a:t> 0.36、38 </a:t>
            </a:r>
            <a:r>
              <a:rPr dirty="0" err="1"/>
              <a:t>位，上限是</a:t>
            </a:r>
            <a:r>
              <a:rPr dirty="0"/>
              <a:t> 300 </a:t>
            </a:r>
            <a:r>
              <a:rPr dirty="0" err="1"/>
              <a:t>位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為什麼要湊到</a:t>
            </a:r>
            <a:r>
              <a:rPr dirty="0"/>
              <a:t> 20 </a:t>
            </a:r>
            <a:r>
              <a:rPr dirty="0" err="1"/>
              <a:t>個事件？因為存活曲線靠的是事件數，不是人數。撈</a:t>
            </a:r>
            <a:r>
              <a:rPr dirty="0"/>
              <a:t> 200 </a:t>
            </a:r>
            <a:r>
              <a:rPr dirty="0" err="1"/>
              <a:t>個都沒人過世</a:t>
            </a:r>
            <a:r>
              <a:rPr dirty="0"/>
              <a:t>，</a:t>
            </a:r>
          </a:p>
          <a:p>
            <a:r>
              <a:rPr dirty="0" err="1"/>
              <a:t>那條曲線是平的，什麼都說明不了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下面這條藍線就是這</a:t>
            </a:r>
            <a:r>
              <a:rPr dirty="0"/>
              <a:t> 38 </a:t>
            </a:r>
            <a:r>
              <a:rPr dirty="0" err="1"/>
              <a:t>位真實病人的</a:t>
            </a:r>
            <a:r>
              <a:rPr dirty="0"/>
              <a:t> Kaplan–Meier </a:t>
            </a:r>
            <a:r>
              <a:rPr dirty="0" err="1"/>
              <a:t>曲線，淺色是</a:t>
            </a:r>
            <a:r>
              <a:rPr dirty="0"/>
              <a:t> 95% </a:t>
            </a:r>
            <a:r>
              <a:rPr dirty="0" err="1"/>
              <a:t>信賴區間</a:t>
            </a:r>
            <a:r>
              <a:rPr dirty="0"/>
              <a:t>，</a:t>
            </a:r>
          </a:p>
          <a:p>
            <a:r>
              <a:rPr dirty="0" err="1"/>
              <a:t>灰線是全體</a:t>
            </a:r>
            <a:r>
              <a:rPr dirty="0"/>
              <a:t> 12,196 </a:t>
            </a:r>
            <a:r>
              <a:rPr dirty="0" err="1"/>
              <a:t>位。這位病人</a:t>
            </a:r>
            <a:r>
              <a:rPr dirty="0"/>
              <a:t> 5 </a:t>
            </a:r>
            <a:r>
              <a:rPr dirty="0" err="1"/>
              <a:t>年</a:t>
            </a:r>
            <a:r>
              <a:rPr dirty="0"/>
              <a:t> 65.8%，</a:t>
            </a:r>
            <a:r>
              <a:rPr dirty="0" err="1"/>
              <a:t>中位存活</a:t>
            </a:r>
            <a:r>
              <a:rPr dirty="0"/>
              <a:t> 7 </a:t>
            </a:r>
            <a:r>
              <a:rPr dirty="0" err="1"/>
              <a:t>年，這</a:t>
            </a:r>
            <a:r>
              <a:rPr dirty="0"/>
              <a:t> 38 </a:t>
            </a:r>
            <a:r>
              <a:rPr dirty="0" err="1"/>
              <a:t>位裡沒有人手術死亡</a:t>
            </a:r>
            <a:r>
              <a:rPr dirty="0"/>
              <a:t>。</a:t>
            </a:r>
          </a:p>
          <a:p>
            <a:r>
              <a:rPr dirty="0" err="1"/>
              <a:t>右邊那張表可以看到撈出來的人像不像：期別</a:t>
            </a:r>
            <a:r>
              <a:rPr dirty="0"/>
              <a:t> 100% </a:t>
            </a:r>
            <a:r>
              <a:rPr dirty="0" err="1"/>
              <a:t>相同、分化</a:t>
            </a:r>
            <a:r>
              <a:rPr dirty="0"/>
              <a:t> 100% </a:t>
            </a:r>
            <a:r>
              <a:rPr dirty="0" err="1"/>
              <a:t>相同</a:t>
            </a:r>
            <a:r>
              <a:rPr dirty="0"/>
              <a:t>、</a:t>
            </a:r>
          </a:p>
          <a:p>
            <a:r>
              <a:rPr dirty="0" err="1"/>
              <a:t>年齡中位數</a:t>
            </a:r>
            <a:r>
              <a:rPr dirty="0"/>
              <a:t> 76 </a:t>
            </a:r>
            <a:r>
              <a:rPr dirty="0" err="1"/>
              <a:t>對他的</a:t>
            </a:r>
            <a:r>
              <a:rPr dirty="0"/>
              <a:t> 68。</a:t>
            </a:r>
          </a:p>
          <a:p>
            <a:endParaRPr dirty="0"/>
          </a:p>
          <a:p>
            <a:r>
              <a:rPr dirty="0" err="1"/>
              <a:t>年齡的部分接</a:t>
            </a:r>
            <a:r>
              <a:rPr dirty="0"/>
              <a:t> Kevin </a:t>
            </a:r>
            <a:r>
              <a:rPr dirty="0" err="1"/>
              <a:t>那頁：這裡填的</a:t>
            </a:r>
            <a:r>
              <a:rPr dirty="0"/>
              <a:t> 68 </a:t>
            </a:r>
            <a:r>
              <a:rPr dirty="0" err="1"/>
              <a:t>歲會被換成</a:t>
            </a:r>
            <a:r>
              <a:rPr dirty="0"/>
              <a:t> 60-70 </a:t>
            </a:r>
            <a:r>
              <a:rPr dirty="0" err="1"/>
              <a:t>這一層，分層之後</a:t>
            </a:r>
            <a:endParaRPr dirty="0"/>
          </a:p>
          <a:p>
            <a:r>
              <a:rPr dirty="0"/>
              <a:t>5-fold CV </a:t>
            </a:r>
            <a:r>
              <a:rPr dirty="0" err="1"/>
              <a:t>的</a:t>
            </a:r>
            <a:r>
              <a:rPr dirty="0"/>
              <a:t> C-index </a:t>
            </a:r>
            <a:r>
              <a:rPr dirty="0" err="1"/>
              <a:t>從</a:t>
            </a:r>
            <a:r>
              <a:rPr dirty="0"/>
              <a:t> 0.7978 </a:t>
            </a:r>
            <a:r>
              <a:rPr dirty="0" err="1"/>
              <a:t>到</a:t>
            </a:r>
            <a:r>
              <a:rPr dirty="0"/>
              <a:t> 0.7995。但要講清楚，這個進步是 Cox </a:t>
            </a:r>
            <a:r>
              <a:rPr dirty="0" err="1"/>
              <a:t>模型的</a:t>
            </a:r>
            <a:r>
              <a:rPr dirty="0"/>
              <a:t>，</a:t>
            </a:r>
          </a:p>
          <a:p>
            <a:r>
              <a:rPr dirty="0" err="1"/>
              <a:t>不是</a:t>
            </a:r>
            <a:r>
              <a:rPr dirty="0"/>
              <a:t> FAMD </a:t>
            </a:r>
            <a:r>
              <a:rPr dirty="0" err="1"/>
              <a:t>的</a:t>
            </a:r>
            <a:r>
              <a:rPr dirty="0"/>
              <a:t>——</a:t>
            </a:r>
            <a:r>
              <a:rPr dirty="0" err="1"/>
              <a:t>年齡在前五個主成分的貢獻度都排在第</a:t>
            </a:r>
            <a:r>
              <a:rPr dirty="0"/>
              <a:t> 11 </a:t>
            </a:r>
            <a:r>
              <a:rPr dirty="0" err="1"/>
              <a:t>名以後</a:t>
            </a:r>
            <a:r>
              <a:rPr dirty="0"/>
              <a:t>，</a:t>
            </a:r>
          </a:p>
          <a:p>
            <a:r>
              <a:rPr dirty="0" err="1"/>
              <a:t>撈人主要還是分期在主導，這也跟</a:t>
            </a:r>
            <a:r>
              <a:rPr dirty="0"/>
              <a:t> Sean </a:t>
            </a:r>
            <a:r>
              <a:rPr dirty="0" err="1"/>
              <a:t>說「年齡配不上」是同一件事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最後誠實講兩點：這</a:t>
            </a:r>
            <a:r>
              <a:rPr dirty="0"/>
              <a:t> 38 </a:t>
            </a:r>
            <a:r>
              <a:rPr dirty="0" err="1"/>
              <a:t>位的追蹤只到</a:t>
            </a:r>
            <a:r>
              <a:rPr dirty="0"/>
              <a:t> 7.9 </a:t>
            </a:r>
            <a:r>
              <a:rPr dirty="0" err="1"/>
              <a:t>年，所以</a:t>
            </a:r>
            <a:r>
              <a:rPr dirty="0"/>
              <a:t> 10 </a:t>
            </a:r>
            <a:r>
              <a:rPr dirty="0" err="1"/>
              <a:t>年那一段是沒有資料的</a:t>
            </a:r>
            <a:r>
              <a:rPr dirty="0"/>
              <a:t>；</a:t>
            </a:r>
          </a:p>
          <a:p>
            <a:r>
              <a:rPr dirty="0" err="1"/>
              <a:t>而且訓練資料是</a:t>
            </a:r>
            <a:r>
              <a:rPr dirty="0"/>
              <a:t> AI </a:t>
            </a:r>
            <a:r>
              <a:rPr dirty="0" err="1"/>
              <a:t>去識別的擬真版，數字不能拿去臨床引用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細部操作我另外錄了影片，等一下直接播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可能被問</a:t>
            </a:r>
            <a:r>
              <a:rPr dirty="0"/>
              <a:t>】</a:t>
            </a:r>
          </a:p>
          <a:p>
            <a:r>
              <a:rPr dirty="0"/>
              <a:t>· 「</a:t>
            </a:r>
            <a:r>
              <a:rPr dirty="0" err="1"/>
              <a:t>為什麼跟</a:t>
            </a:r>
            <a:r>
              <a:rPr dirty="0"/>
              <a:t> Kevin </a:t>
            </a:r>
            <a:r>
              <a:rPr dirty="0" err="1"/>
              <a:t>那頁的</a:t>
            </a:r>
            <a:r>
              <a:rPr dirty="0"/>
              <a:t> 89.5% </a:t>
            </a:r>
            <a:r>
              <a:rPr dirty="0" err="1"/>
              <a:t>不一樣</a:t>
            </a:r>
            <a:r>
              <a:rPr dirty="0"/>
              <a:t>？」→ </a:t>
            </a:r>
            <a:r>
              <a:rPr dirty="0" err="1"/>
              <a:t>不是同一位病人。他的</a:t>
            </a:r>
            <a:r>
              <a:rPr dirty="0"/>
              <a:t> demo </a:t>
            </a:r>
            <a:r>
              <a:rPr dirty="0" err="1"/>
              <a:t>是</a:t>
            </a:r>
            <a:r>
              <a:rPr dirty="0"/>
              <a:t> T2N0M0，</a:t>
            </a:r>
          </a:p>
          <a:p>
            <a:r>
              <a:rPr dirty="0"/>
              <a:t>  </a:t>
            </a:r>
            <a:r>
              <a:rPr dirty="0" err="1"/>
              <a:t>我這句是</a:t>
            </a:r>
            <a:r>
              <a:rPr dirty="0"/>
              <a:t> T3N0M0，而且我把 23 </a:t>
            </a:r>
            <a:r>
              <a:rPr dirty="0" err="1"/>
              <a:t>項全寫滿。同樣一句話只改</a:t>
            </a:r>
            <a:r>
              <a:rPr dirty="0"/>
              <a:t> T2，這裡跑出來是 80 位、5 </a:t>
            </a:r>
            <a:r>
              <a:rPr dirty="0" err="1"/>
              <a:t>年</a:t>
            </a:r>
            <a:r>
              <a:rPr dirty="0"/>
              <a:t> 84.1%。</a:t>
            </a:r>
          </a:p>
          <a:p>
            <a:r>
              <a:rPr dirty="0"/>
              <a:t>  </a:t>
            </a:r>
            <a:r>
              <a:rPr dirty="0" err="1"/>
              <a:t>這正好說明介面為什麼要把</a:t>
            </a:r>
            <a:r>
              <a:rPr dirty="0"/>
              <a:t> 23 </a:t>
            </a:r>
            <a:r>
              <a:rPr dirty="0" err="1"/>
              <a:t>格攤開</a:t>
            </a:r>
            <a:r>
              <a:rPr dirty="0"/>
              <a:t>——</a:t>
            </a:r>
            <a:r>
              <a:rPr dirty="0" err="1"/>
              <a:t>差一格，數字就差很多</a:t>
            </a:r>
            <a:r>
              <a:rPr dirty="0"/>
              <a:t>。</a:t>
            </a:r>
          </a:p>
          <a:p>
            <a:r>
              <a:rPr dirty="0"/>
              <a:t>· 「38 </a:t>
            </a:r>
            <a:r>
              <a:rPr dirty="0" err="1"/>
              <a:t>個人會不會太少</a:t>
            </a:r>
            <a:r>
              <a:rPr dirty="0"/>
              <a:t>？」→ </a:t>
            </a:r>
            <a:r>
              <a:rPr dirty="0" err="1"/>
              <a:t>少是事實，所以規則是看事件數不是看人數，而且半徑可以現場拉大</a:t>
            </a:r>
            <a:r>
              <a:rPr dirty="0"/>
              <a:t>。</a:t>
            </a:r>
          </a:p>
          <a:p>
            <a:r>
              <a:rPr dirty="0"/>
              <a:t>· 「5 </a:t>
            </a:r>
            <a:r>
              <a:rPr dirty="0" err="1"/>
              <a:t>年</a:t>
            </a:r>
            <a:r>
              <a:rPr dirty="0"/>
              <a:t> 65.8% </a:t>
            </a:r>
            <a:r>
              <a:rPr dirty="0" err="1"/>
              <a:t>準嗎</a:t>
            </a:r>
            <a:r>
              <a:rPr dirty="0"/>
              <a:t>？」→ 5 </a:t>
            </a:r>
            <a:r>
              <a:rPr dirty="0" err="1"/>
              <a:t>年還沒有外部驗證，Sean</a:t>
            </a:r>
            <a:r>
              <a:rPr dirty="0"/>
              <a:t> </a:t>
            </a:r>
            <a:r>
              <a:rPr dirty="0" err="1"/>
              <a:t>那頁有講，這是限制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開場：指導老師建議先把幾個關鍵名詞講清楚，這頁花約1分鐘打底。
Z-score：把不同尺度的變數轉成統一基準，公式(x-平均)/標準差。白蛋白例子：3.5比平均4.0低1.67個標準差。
PCA：把很多相關變數濃縮成幾個主成分，同時保留大部分資訊量。拍照角度比喻。限制是只能處理數值變數。
FAMD：PCA的延伸，連續變數一樣走PCA，類別變數(含年齡分層)保留原始標籤用類似對應分析的方式編碼。5-fold CV C-index 0.7995比PCA版0.7962略高。
收尾：Z-score是前處理，PCA是核心降維法，FAMD是PCA支援混合資料的延伸版。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跟大家報告team最終決定採用的FAMD版本。
為什麼選FAMD：①5-fold CV C-index 0.7995，比PCA版0.7962高 ②類別變數(分期、年齡層)保留真實標籤 ③指標矩陣編碼更適合混合資料。
資料規模：12,196訓練病例、23特徵(10連續+13類別，年齡從連續改成類別，下一頁細講原因)。
FAMD做法一句話：連續變數走PCA標準化，類別變數保留標籤用指標矩陣編碼，一起投影到低維空間取前5主成分。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這頁是我們後來發現、加進報告的重點：原本假設年齡跟存活率是線性關係(越年輕越好)，實測發現不成立。
HR表格：以&lt;50歲為基準，控制其他22個變數後——50-60歲HR=0.86、60-70歲HR=0.93，風險反而比&lt;50歲低；70-80歲HR=1.35較高；80+歲HR=2.26風險最高。60-70歲p=0.04算勉強顯著，其他都p&lt;0.0001非常顯著。
實測5年存活率圖：74.2%(&lt;50) → 76.8%(50-60) → 76.3%(60-70) → 65.5%(70-80) → 45.3%(80+)，明顯不是單調遞減，中年反而是最高點。
為什麼會這樣：早發型大腸癌(&lt;50歲確診)腫瘤生物學通常較惡性，即使控制分期後，獨立風險仍略高於中年族群，這在大腸直腸癌領域是有實證支持的現象。
模型調整：把年齡從連續變數改成5分層類別變數，讓FAMD直接學習這個非線性關係，而不是套用錯誤的線性假設。C-index從0.7978提升到0.7995，小幅但真實的提升。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主成分意義：PC1(11.2%)=腫瘤負擔+根治性軸；PC2=分期細節+侵犯+營養軸；PC3=分期細節+側別+margin軸。年齡分層在PC1-3貢獻度不高，但在Cox模型裡是顯著預後因子——這兩件事不衝突，FAMD是無監督、Cox是有監督。
C-index：訓練0.801、5-fold CV 0.7995(採用)、held-out12例0.703(樣本小僅供參考)。
相似病例搜尋：0.5SD起搜，事件數&lt;20自動擴大，[30,300]人上下限，擴到上限還不夠會標示low_confidence。
Demo結果：68歲男性/第二期/右側大腸，抓106人、20事件，5年OS 89.5% vs 全體69.8%，方向合理。
結尾：FAMD版已是team決定的正式採用版本，年齡分層的發現也整合進模型，接下來可以進入前端串接階段。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按</a:t>
            </a:r>
            <a:r>
              <a:rPr dirty="0"/>
              <a:t> 3 </a:t>
            </a:r>
            <a:r>
              <a:rPr dirty="0" err="1"/>
              <a:t>下</a:t>
            </a:r>
            <a:r>
              <a:rPr dirty="0"/>
              <a:t>】</a:t>
            </a:r>
          </a:p>
          <a:p>
            <a:r>
              <a:rPr dirty="0"/>
              <a:t>1 </a:t>
            </a:r>
            <a:r>
              <a:rPr dirty="0" err="1"/>
              <a:t>資料怎麼切</a:t>
            </a:r>
            <a:r>
              <a:rPr dirty="0"/>
              <a:t>　2 </a:t>
            </a:r>
            <a:r>
              <a:rPr dirty="0" err="1"/>
              <a:t>尺從哪裡來</a:t>
            </a:r>
            <a:r>
              <a:rPr dirty="0"/>
              <a:t>　3 </a:t>
            </a:r>
            <a:r>
              <a:rPr dirty="0" err="1"/>
              <a:t>外部驗證</a:t>
            </a:r>
            <a:endParaRPr dirty="0"/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上台可以這樣講</a:t>
            </a:r>
            <a:r>
              <a:rPr dirty="0"/>
              <a:t>】</a:t>
            </a:r>
          </a:p>
          <a:p>
            <a:r>
              <a:rPr dirty="0" err="1"/>
              <a:t>我們要證明「撈出來的人是真的像</a:t>
            </a:r>
            <a:r>
              <a:rPr dirty="0"/>
              <a:t>」，</a:t>
            </a:r>
            <a:r>
              <a:rPr dirty="0" err="1"/>
              <a:t>但「像不像」沒有客觀答案</a:t>
            </a:r>
            <a:r>
              <a:rPr dirty="0"/>
              <a:t>——</a:t>
            </a:r>
            <a:r>
              <a:rPr dirty="0" err="1"/>
              <a:t>沒有一個標準檔案</a:t>
            </a:r>
            <a:endParaRPr dirty="0"/>
          </a:p>
          <a:p>
            <a:r>
              <a:rPr dirty="0" err="1"/>
              <a:t>告訴你哪兩位病人算像。所以我們的做法是：請醫師先出題，由他定義什麼叫像，我們才作答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先看資料怎麼切。本院癌症登記</a:t>
            </a:r>
            <a:r>
              <a:rPr dirty="0"/>
              <a:t> 2007 </a:t>
            </a:r>
            <a:r>
              <a:rPr dirty="0" err="1"/>
              <a:t>到</a:t>
            </a:r>
            <a:r>
              <a:rPr dirty="0"/>
              <a:t> 2023 </a:t>
            </a:r>
            <a:r>
              <a:rPr dirty="0" err="1"/>
              <a:t>年共</a:t>
            </a:r>
            <a:r>
              <a:rPr dirty="0"/>
              <a:t> 12,250 </a:t>
            </a:r>
            <a:r>
              <a:rPr dirty="0" err="1"/>
              <a:t>位。我們抽走</a:t>
            </a:r>
            <a:r>
              <a:rPr dirty="0"/>
              <a:t> 12 </a:t>
            </a:r>
            <a:r>
              <a:rPr dirty="0" err="1"/>
              <a:t>位當考題</a:t>
            </a:r>
            <a:r>
              <a:rPr dirty="0"/>
              <a:t>，</a:t>
            </a:r>
          </a:p>
          <a:p>
            <a:r>
              <a:rPr dirty="0" err="1"/>
              <a:t>這</a:t>
            </a:r>
            <a:r>
              <a:rPr dirty="0"/>
              <a:t> 12 </a:t>
            </a:r>
            <a:r>
              <a:rPr dirty="0" err="1"/>
              <a:t>位</a:t>
            </a:r>
            <a:r>
              <a:rPr dirty="0"/>
              <a:t>**</a:t>
            </a:r>
            <a:r>
              <a:rPr dirty="0" err="1"/>
              <a:t>完全不參與任何計算</a:t>
            </a:r>
            <a:r>
              <a:rPr dirty="0"/>
              <a:t>**——</a:t>
            </a:r>
            <a:r>
              <a:rPr dirty="0" err="1"/>
              <a:t>不算中位數、不做標準化、也不進降維</a:t>
            </a:r>
            <a:r>
              <a:rPr dirty="0"/>
              <a:t>。</a:t>
            </a:r>
          </a:p>
          <a:p>
            <a:r>
              <a:rPr dirty="0" err="1"/>
              <a:t>剩下的</a:t>
            </a:r>
            <a:r>
              <a:rPr dirty="0"/>
              <a:t> 12,196 </a:t>
            </a:r>
            <a:r>
              <a:rPr dirty="0" err="1"/>
              <a:t>位才拿來訓練模型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接著，醫師針對那</a:t>
            </a:r>
            <a:r>
              <a:rPr dirty="0"/>
              <a:t> 12 </a:t>
            </a:r>
            <a:r>
              <a:rPr dirty="0" err="1"/>
              <a:t>位，各自手工挑出大約</a:t>
            </a:r>
            <a:r>
              <a:rPr dirty="0"/>
              <a:t> 12 </a:t>
            </a:r>
            <a:r>
              <a:rPr dirty="0" err="1"/>
              <a:t>位他認為臨床相似的病人，總共</a:t>
            </a:r>
            <a:r>
              <a:rPr dirty="0"/>
              <a:t> 140 </a:t>
            </a:r>
            <a:r>
              <a:rPr dirty="0" err="1"/>
              <a:t>筆</a:t>
            </a:r>
            <a:endParaRPr dirty="0"/>
          </a:p>
          <a:p>
            <a:r>
              <a:rPr dirty="0"/>
              <a:t>「</a:t>
            </a:r>
            <a:r>
              <a:rPr dirty="0" err="1"/>
              <a:t>標準答案</a:t>
            </a:r>
            <a:r>
              <a:rPr dirty="0"/>
              <a:t>」，</a:t>
            </a:r>
            <a:r>
              <a:rPr dirty="0" err="1"/>
              <a:t>同時寫下他挑人的</a:t>
            </a:r>
            <a:r>
              <a:rPr dirty="0"/>
              <a:t> 8 </a:t>
            </a:r>
            <a:r>
              <a:rPr dirty="0" err="1"/>
              <a:t>條規則。這兩樣東西就是我們的尺</a:t>
            </a:r>
            <a:r>
              <a:rPr dirty="0"/>
              <a:t>——</a:t>
            </a:r>
          </a:p>
          <a:p>
            <a:r>
              <a:rPr dirty="0" err="1"/>
              <a:t>醫師出題的時候沒有看過我們的排名，是雙盲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最後，我們另外拿到</a:t>
            </a:r>
            <a:r>
              <a:rPr dirty="0"/>
              <a:t> 386 位全新的真實病人，2024 </a:t>
            </a:r>
            <a:r>
              <a:rPr dirty="0" err="1"/>
              <a:t>年</a:t>
            </a:r>
            <a:r>
              <a:rPr dirty="0"/>
              <a:t> 10 </a:t>
            </a:r>
            <a:r>
              <a:rPr dirty="0" err="1"/>
              <a:t>月到</a:t>
            </a:r>
            <a:r>
              <a:rPr dirty="0"/>
              <a:t> 2025 </a:t>
            </a:r>
            <a:r>
              <a:rPr dirty="0" err="1"/>
              <a:t>年</a:t>
            </a:r>
            <a:r>
              <a:rPr dirty="0"/>
              <a:t> 3 </a:t>
            </a:r>
            <a:r>
              <a:rPr dirty="0" err="1"/>
              <a:t>月</a:t>
            </a:r>
            <a:r>
              <a:rPr dirty="0"/>
              <a:t>，</a:t>
            </a:r>
          </a:p>
          <a:p>
            <a:r>
              <a:rPr dirty="0" err="1"/>
              <a:t>病歷號跟訓練集交集是</a:t>
            </a:r>
            <a:r>
              <a:rPr dirty="0"/>
              <a:t> 0——</a:t>
            </a:r>
            <a:r>
              <a:rPr dirty="0" err="1"/>
              <a:t>模型從沒看過他們任何一位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這三樣東西，對應接下來的三種驗證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可能被問</a:t>
            </a:r>
            <a:r>
              <a:rPr dirty="0"/>
              <a:t>】</a:t>
            </a:r>
          </a:p>
          <a:p>
            <a:r>
              <a:rPr dirty="0"/>
              <a:t>· 「</a:t>
            </a:r>
            <a:r>
              <a:rPr dirty="0" err="1"/>
              <a:t>抽走</a:t>
            </a:r>
            <a:r>
              <a:rPr dirty="0"/>
              <a:t> 12 </a:t>
            </a:r>
            <a:r>
              <a:rPr dirty="0" err="1"/>
              <a:t>位是真的完全抽走嗎</a:t>
            </a:r>
            <a:r>
              <a:rPr dirty="0"/>
              <a:t>？」→ </a:t>
            </a:r>
            <a:r>
              <a:rPr dirty="0" err="1"/>
              <a:t>是。連算中位數補值都沒有用到他們</a:t>
            </a:r>
            <a:r>
              <a:rPr dirty="0"/>
              <a:t>。</a:t>
            </a:r>
          </a:p>
          <a:p>
            <a:r>
              <a:rPr dirty="0"/>
              <a:t>· </a:t>
            </a:r>
            <a:r>
              <a:rPr dirty="0" err="1"/>
              <a:t>口頭補一句：訓練資料是</a:t>
            </a:r>
            <a:r>
              <a:rPr dirty="0"/>
              <a:t> AI </a:t>
            </a:r>
            <a:r>
              <a:rPr dirty="0" err="1"/>
              <a:t>去識別擬真資料，臨床數字不可引用</a:t>
            </a:r>
            <a:r>
              <a:rPr dirty="0"/>
              <a:t>；</a:t>
            </a:r>
          </a:p>
          <a:p>
            <a:r>
              <a:rPr dirty="0"/>
              <a:t>  </a:t>
            </a:r>
            <a:r>
              <a:rPr dirty="0" err="1"/>
              <a:t>驗證用的</a:t>
            </a:r>
            <a:r>
              <a:rPr dirty="0"/>
              <a:t> 386 </a:t>
            </a:r>
            <a:r>
              <a:rPr dirty="0" err="1"/>
              <a:t>位是真實病歷，只用於驗證、未參與訓練，所有輸出不含病歷號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按</a:t>
            </a:r>
            <a:r>
              <a:rPr dirty="0"/>
              <a:t> 4 </a:t>
            </a:r>
            <a:r>
              <a:rPr dirty="0" err="1"/>
              <a:t>下</a:t>
            </a:r>
            <a:r>
              <a:rPr dirty="0"/>
              <a:t>】</a:t>
            </a:r>
          </a:p>
          <a:p>
            <a:r>
              <a:rPr dirty="0"/>
              <a:t>1 </a:t>
            </a:r>
            <a:r>
              <a:rPr dirty="0" err="1"/>
              <a:t>出圖</a:t>
            </a:r>
            <a:r>
              <a:rPr dirty="0"/>
              <a:t>　2 </a:t>
            </a:r>
            <a:r>
              <a:rPr dirty="0" err="1"/>
              <a:t>怎麼看這張圖</a:t>
            </a:r>
            <a:r>
              <a:rPr dirty="0"/>
              <a:t>　3 </a:t>
            </a:r>
            <a:r>
              <a:rPr dirty="0" err="1"/>
              <a:t>結果</a:t>
            </a:r>
            <a:r>
              <a:rPr dirty="0"/>
              <a:t>　4 </a:t>
            </a:r>
            <a:r>
              <a:rPr dirty="0" err="1"/>
              <a:t>誠實揭露</a:t>
            </a:r>
            <a:endParaRPr dirty="0"/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上台可以這樣講</a:t>
            </a:r>
            <a:r>
              <a:rPr dirty="0"/>
              <a:t>】</a:t>
            </a:r>
          </a:p>
          <a:p>
            <a:r>
              <a:rPr dirty="0" err="1"/>
              <a:t>第一種驗證：把那</a:t>
            </a:r>
            <a:r>
              <a:rPr dirty="0"/>
              <a:t> 12 </a:t>
            </a:r>
            <a:r>
              <a:rPr dirty="0" err="1"/>
              <a:t>位考題病人丟進模型，讓它對全體</a:t>
            </a:r>
            <a:r>
              <a:rPr dirty="0"/>
              <a:t> 12,196 </a:t>
            </a:r>
            <a:r>
              <a:rPr dirty="0" err="1"/>
              <a:t>位由近到遠排名</a:t>
            </a:r>
            <a:r>
              <a:rPr dirty="0"/>
              <a:t>，</a:t>
            </a:r>
          </a:p>
          <a:p>
            <a:r>
              <a:rPr dirty="0" err="1"/>
              <a:t>再看醫師手挑的那</a:t>
            </a:r>
            <a:r>
              <a:rPr dirty="0"/>
              <a:t> 140 </a:t>
            </a:r>
            <a:r>
              <a:rPr dirty="0" err="1"/>
              <a:t>位，各自排在第幾名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先講怎麼看這張圖。每一格是一位考題病人，中間的紅星就是他本人。藍點是我們排名的</a:t>
            </a:r>
            <a:endParaRPr dirty="0"/>
          </a:p>
          <a:p>
            <a:r>
              <a:rPr dirty="0" err="1"/>
              <a:t>前</a:t>
            </a:r>
            <a:r>
              <a:rPr dirty="0"/>
              <a:t> 200 </a:t>
            </a:r>
            <a:r>
              <a:rPr dirty="0" err="1"/>
              <a:t>名；橘色實心的是醫師挑的、而且有落在前</a:t>
            </a:r>
            <a:r>
              <a:rPr dirty="0"/>
              <a:t> 200 </a:t>
            </a:r>
            <a:r>
              <a:rPr dirty="0" err="1"/>
              <a:t>的；橘色空心的是醫師挑了</a:t>
            </a:r>
            <a:r>
              <a:rPr dirty="0"/>
              <a:t>，</a:t>
            </a:r>
          </a:p>
          <a:p>
            <a:r>
              <a:rPr dirty="0" err="1"/>
              <a:t>但沒進我們前</a:t>
            </a:r>
            <a:r>
              <a:rPr dirty="0"/>
              <a:t> 200 </a:t>
            </a:r>
            <a:r>
              <a:rPr dirty="0" err="1"/>
              <a:t>的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結果是：醫師挑的</a:t>
            </a:r>
            <a:r>
              <a:rPr dirty="0"/>
              <a:t> 140 </a:t>
            </a:r>
            <a:r>
              <a:rPr dirty="0" err="1"/>
              <a:t>位裡面，有</a:t>
            </a:r>
            <a:r>
              <a:rPr dirty="0"/>
              <a:t> 43 </a:t>
            </a:r>
            <a:r>
              <a:rPr dirty="0" err="1"/>
              <a:t>位落在前</a:t>
            </a:r>
            <a:r>
              <a:rPr dirty="0"/>
              <a:t> 200 名，30.7%。</a:t>
            </a:r>
          </a:p>
          <a:p>
            <a:r>
              <a:rPr dirty="0" err="1"/>
              <a:t>前</a:t>
            </a:r>
            <a:r>
              <a:rPr dirty="0"/>
              <a:t> 200 </a:t>
            </a:r>
            <a:r>
              <a:rPr dirty="0" err="1"/>
              <a:t>名只佔資料庫的</a:t>
            </a:r>
            <a:r>
              <a:rPr dirty="0"/>
              <a:t> 1.6%，</a:t>
            </a:r>
            <a:r>
              <a:rPr dirty="0" err="1"/>
              <a:t>如果是亂數排序，平均只會中</a:t>
            </a:r>
            <a:r>
              <a:rPr dirty="0"/>
              <a:t> 2.3 </a:t>
            </a:r>
            <a:r>
              <a:rPr dirty="0" err="1"/>
              <a:t>位</a:t>
            </a:r>
            <a:r>
              <a:rPr dirty="0"/>
              <a:t>——</a:t>
            </a:r>
            <a:r>
              <a:rPr dirty="0" err="1"/>
              <a:t>我們是它的</a:t>
            </a:r>
            <a:r>
              <a:rPr dirty="0"/>
              <a:t> 19 </a:t>
            </a:r>
            <a:r>
              <a:rPr dirty="0" err="1"/>
              <a:t>倍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但有一件事要老實說：醫師名單的</a:t>
            </a:r>
            <a:r>
              <a:rPr dirty="0"/>
              <a:t>**</a:t>
            </a:r>
            <a:r>
              <a:rPr dirty="0" err="1"/>
              <a:t>中位排名是第</a:t>
            </a:r>
            <a:r>
              <a:rPr dirty="0"/>
              <a:t> 374 </a:t>
            </a:r>
            <a:r>
              <a:rPr dirty="0" err="1"/>
              <a:t>名</a:t>
            </a:r>
            <a:r>
              <a:rPr dirty="0"/>
              <a:t>**。</a:t>
            </a:r>
            <a:r>
              <a:rPr dirty="0" err="1"/>
              <a:t>也就是說，大多數醫師認為像的人</a:t>
            </a:r>
            <a:r>
              <a:rPr dirty="0"/>
              <a:t>，</a:t>
            </a:r>
          </a:p>
          <a:p>
            <a:r>
              <a:rPr dirty="0" err="1"/>
              <a:t>其實沒有進到我們的前</a:t>
            </a:r>
            <a:r>
              <a:rPr dirty="0"/>
              <a:t> 200。空心圈為什麼這麼多，下一頁解釋。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可能被問</a:t>
            </a:r>
            <a:r>
              <a:rPr dirty="0"/>
              <a:t>】</a:t>
            </a:r>
          </a:p>
          <a:p>
            <a:r>
              <a:rPr dirty="0"/>
              <a:t>· 「30.7% </a:t>
            </a:r>
            <a:r>
              <a:rPr dirty="0" err="1"/>
              <a:t>聽起來很低</a:t>
            </a:r>
            <a:r>
              <a:rPr dirty="0"/>
              <a:t>」→ </a:t>
            </a:r>
            <a:r>
              <a:rPr dirty="0" err="1"/>
              <a:t>這正是下一頁要回答的，先讓他們看完再判斷</a:t>
            </a:r>
            <a:r>
              <a:rPr dirty="0"/>
              <a:t>。</a:t>
            </a:r>
          </a:p>
          <a:p>
            <a:r>
              <a:rPr dirty="0"/>
              <a:t>· 「12 </a:t>
            </a:r>
            <a:r>
              <a:rPr dirty="0" err="1"/>
              <a:t>位會不會太少</a:t>
            </a:r>
            <a:r>
              <a:rPr dirty="0"/>
              <a:t>」→ </a:t>
            </a:r>
            <a:r>
              <a:rPr dirty="0" err="1"/>
              <a:t>是少，但這</a:t>
            </a:r>
            <a:r>
              <a:rPr dirty="0"/>
              <a:t> 12 </a:t>
            </a:r>
            <a:r>
              <a:rPr dirty="0" err="1"/>
              <a:t>位是完全抽走的，而且醫師是獨立出題</a:t>
            </a:r>
            <a:r>
              <a:rPr dirty="0"/>
              <a:t>，</a:t>
            </a:r>
          </a:p>
          <a:p>
            <a:r>
              <a:rPr dirty="0"/>
              <a:t>  </a:t>
            </a:r>
            <a:r>
              <a:rPr dirty="0" err="1"/>
              <a:t>這種雙盲設計比多找幾百位但有資訊洩漏的驗證有價值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按</a:t>
            </a:r>
            <a:r>
              <a:rPr dirty="0"/>
              <a:t> 3 </a:t>
            </a:r>
            <a:r>
              <a:rPr dirty="0" err="1"/>
              <a:t>下</a:t>
            </a:r>
            <a:r>
              <a:rPr dirty="0"/>
              <a:t>】</a:t>
            </a:r>
          </a:p>
          <a:p>
            <a:r>
              <a:rPr dirty="0"/>
              <a:t>1 </a:t>
            </a:r>
            <a:r>
              <a:rPr dirty="0" err="1"/>
              <a:t>出圖</a:t>
            </a:r>
            <a:r>
              <a:rPr dirty="0"/>
              <a:t>　2 </a:t>
            </a:r>
            <a:r>
              <a:rPr dirty="0" err="1"/>
              <a:t>撈幾個人是規則決定的</a:t>
            </a:r>
            <a:r>
              <a:rPr dirty="0"/>
              <a:t>　3 </a:t>
            </a:r>
            <a:r>
              <a:rPr dirty="0" err="1"/>
              <a:t>對照組</a:t>
            </a:r>
            <a:endParaRPr dirty="0"/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上台可以這樣講</a:t>
            </a:r>
            <a:r>
              <a:rPr dirty="0"/>
              <a:t>】</a:t>
            </a:r>
          </a:p>
          <a:p>
            <a:r>
              <a:rPr dirty="0" err="1"/>
              <a:t>驗證一只驗了</a:t>
            </a:r>
            <a:r>
              <a:rPr dirty="0"/>
              <a:t> 12 </a:t>
            </a:r>
            <a:r>
              <a:rPr dirty="0" err="1"/>
              <a:t>位考題病人。驗證二我們換個做法：不看醫師挑誰，改用他寫下的</a:t>
            </a:r>
            <a:r>
              <a:rPr dirty="0"/>
              <a:t> 8 </a:t>
            </a:r>
            <a:r>
              <a:rPr dirty="0" err="1"/>
              <a:t>條規則</a:t>
            </a:r>
            <a:r>
              <a:rPr dirty="0"/>
              <a:t>，</a:t>
            </a:r>
          </a:p>
          <a:p>
            <a:r>
              <a:rPr dirty="0" err="1"/>
              <a:t>去檢查我們替</a:t>
            </a:r>
            <a:r>
              <a:rPr dirty="0"/>
              <a:t>**</a:t>
            </a:r>
            <a:r>
              <a:rPr dirty="0" err="1"/>
              <a:t>每一位</a:t>
            </a:r>
            <a:r>
              <a:rPr dirty="0"/>
              <a:t>**</a:t>
            </a:r>
            <a:r>
              <a:rPr dirty="0" err="1"/>
              <a:t>病人撈出來的那一群</a:t>
            </a:r>
            <a:r>
              <a:rPr dirty="0"/>
              <a:t>——</a:t>
            </a:r>
            <a:r>
              <a:rPr dirty="0" err="1"/>
              <a:t>這樣</a:t>
            </a:r>
            <a:r>
              <a:rPr dirty="0"/>
              <a:t> 12,196 </a:t>
            </a:r>
            <a:r>
              <a:rPr dirty="0" err="1"/>
              <a:t>位全部都驗得到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舉個例子。一位</a:t>
            </a:r>
            <a:r>
              <a:rPr dirty="0"/>
              <a:t> 59 </a:t>
            </a:r>
            <a:r>
              <a:rPr dirty="0" err="1"/>
              <a:t>歲男性、第四期、左側結腸。先把他自己從資料庫蓋掉</a:t>
            </a:r>
            <a:r>
              <a:rPr dirty="0"/>
              <a:t>，</a:t>
            </a:r>
          </a:p>
          <a:p>
            <a:r>
              <a:rPr dirty="0" err="1"/>
              <a:t>然後由近而遠一直撈人</a:t>
            </a:r>
            <a:r>
              <a:rPr dirty="0"/>
              <a:t>——</a:t>
            </a:r>
            <a:r>
              <a:rPr dirty="0" err="1"/>
              <a:t>注意</a:t>
            </a:r>
            <a:r>
              <a:rPr dirty="0"/>
              <a:t>，**</a:t>
            </a:r>
            <a:r>
              <a:rPr dirty="0" err="1"/>
              <a:t>不是撈固定的</a:t>
            </a:r>
            <a:r>
              <a:rPr dirty="0"/>
              <a:t> 30 </a:t>
            </a:r>
            <a:r>
              <a:rPr dirty="0" err="1"/>
              <a:t>位</a:t>
            </a:r>
            <a:r>
              <a:rPr dirty="0"/>
              <a:t>**，</a:t>
            </a:r>
            <a:r>
              <a:rPr dirty="0" err="1"/>
              <a:t>而是一直撈到累積</a:t>
            </a:r>
            <a:r>
              <a:rPr dirty="0"/>
              <a:t> 20 </a:t>
            </a:r>
            <a:r>
              <a:rPr dirty="0" err="1"/>
              <a:t>位已過世才停</a:t>
            </a:r>
            <a:r>
              <a:rPr dirty="0"/>
              <a:t>，</a:t>
            </a:r>
          </a:p>
          <a:p>
            <a:r>
              <a:rPr dirty="0" err="1"/>
              <a:t>人數限制在</a:t>
            </a:r>
            <a:r>
              <a:rPr dirty="0"/>
              <a:t> 30 </a:t>
            </a:r>
            <a:r>
              <a:rPr dirty="0" err="1"/>
              <a:t>到</a:t>
            </a:r>
            <a:r>
              <a:rPr dirty="0"/>
              <a:t> 300。這位病人最近的 30 </a:t>
            </a:r>
            <a:r>
              <a:rPr dirty="0" err="1"/>
              <a:t>位裡面就已經有</a:t>
            </a:r>
            <a:r>
              <a:rPr dirty="0"/>
              <a:t> 24 </a:t>
            </a:r>
            <a:r>
              <a:rPr dirty="0" err="1"/>
              <a:t>位過世了，所以停在下限</a:t>
            </a:r>
            <a:r>
              <a:rPr dirty="0"/>
              <a:t>，</a:t>
            </a:r>
          </a:p>
          <a:p>
            <a:r>
              <a:rPr dirty="0" err="1"/>
              <a:t>總共</a:t>
            </a:r>
            <a:r>
              <a:rPr dirty="0"/>
              <a:t> 30 </a:t>
            </a:r>
            <a:r>
              <a:rPr dirty="0" err="1"/>
              <a:t>位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接著拿醫師的</a:t>
            </a:r>
            <a:r>
              <a:rPr dirty="0"/>
              <a:t> 8 </a:t>
            </a:r>
            <a:r>
              <a:rPr dirty="0" err="1"/>
              <a:t>條規則，逐條數這</a:t>
            </a:r>
            <a:r>
              <a:rPr dirty="0"/>
              <a:t> 30 </a:t>
            </a:r>
            <a:r>
              <a:rPr dirty="0" err="1"/>
              <a:t>位裡有幾位符合：期別相同的</a:t>
            </a:r>
            <a:r>
              <a:rPr dirty="0"/>
              <a:t> 30 </a:t>
            </a:r>
            <a:r>
              <a:rPr dirty="0" err="1"/>
              <a:t>位，全中</a:t>
            </a:r>
            <a:r>
              <a:rPr dirty="0"/>
              <a:t>；</a:t>
            </a:r>
          </a:p>
          <a:p>
            <a:r>
              <a:rPr dirty="0" err="1"/>
              <a:t>側別相同</a:t>
            </a:r>
            <a:r>
              <a:rPr dirty="0"/>
              <a:t> 21 位，70%；</a:t>
            </a:r>
            <a:r>
              <a:rPr dirty="0" err="1"/>
              <a:t>白蛋白差在</a:t>
            </a:r>
            <a:r>
              <a:rPr dirty="0"/>
              <a:t> 0.5 </a:t>
            </a:r>
            <a:r>
              <a:rPr dirty="0" err="1"/>
              <a:t>以內</a:t>
            </a:r>
            <a:r>
              <a:rPr dirty="0"/>
              <a:t> 23 位，77%。</a:t>
            </a:r>
          </a:p>
          <a:p>
            <a:r>
              <a:rPr dirty="0" err="1"/>
              <a:t>但年齡在正負</a:t>
            </a:r>
            <a:r>
              <a:rPr dirty="0"/>
              <a:t> 3 </a:t>
            </a:r>
            <a:r>
              <a:rPr dirty="0" err="1"/>
              <a:t>歲以內的，只有</a:t>
            </a:r>
            <a:r>
              <a:rPr dirty="0"/>
              <a:t> 5 位，17%。</a:t>
            </a:r>
          </a:p>
          <a:p>
            <a:endParaRPr dirty="0"/>
          </a:p>
          <a:p>
            <a:r>
              <a:rPr dirty="0" err="1"/>
              <a:t>對照組是隨機抓</a:t>
            </a:r>
            <a:r>
              <a:rPr dirty="0"/>
              <a:t> 100 </a:t>
            </a:r>
            <a:r>
              <a:rPr dirty="0" err="1"/>
              <a:t>人。同一條期別規則，隨機只有</a:t>
            </a:r>
            <a:r>
              <a:rPr dirty="0"/>
              <a:t> 11% </a:t>
            </a:r>
            <a:r>
              <a:rPr dirty="0" err="1"/>
              <a:t>符合</a:t>
            </a:r>
            <a:r>
              <a:rPr dirty="0"/>
              <a:t>——</a:t>
            </a:r>
          </a:p>
          <a:p>
            <a:r>
              <a:rPr dirty="0"/>
              <a:t>**</a:t>
            </a:r>
            <a:r>
              <a:rPr dirty="0" err="1"/>
              <a:t>系統沒有被告知要找同期別的人，是它自己從資料學出來的</a:t>
            </a:r>
            <a:r>
              <a:rPr dirty="0"/>
              <a:t>**。</a:t>
            </a:r>
          </a:p>
          <a:p>
            <a:endParaRPr dirty="0"/>
          </a:p>
          <a:p>
            <a:r>
              <a:rPr dirty="0" err="1"/>
              <a:t>下一頁是</a:t>
            </a:r>
            <a:r>
              <a:rPr dirty="0"/>
              <a:t> 12,196 </a:t>
            </a:r>
            <a:r>
              <a:rPr dirty="0" err="1"/>
              <a:t>位全部跑完的平均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可能被問</a:t>
            </a:r>
            <a:r>
              <a:rPr dirty="0"/>
              <a:t>】</a:t>
            </a:r>
          </a:p>
          <a:p>
            <a:r>
              <a:rPr dirty="0"/>
              <a:t>· 「</a:t>
            </a:r>
            <a:r>
              <a:rPr dirty="0" err="1"/>
              <a:t>為什麼剛好</a:t>
            </a:r>
            <a:r>
              <a:rPr dirty="0"/>
              <a:t> 30 </a:t>
            </a:r>
            <a:r>
              <a:rPr dirty="0" err="1"/>
              <a:t>位</a:t>
            </a:r>
            <a:r>
              <a:rPr dirty="0"/>
              <a:t>？」→ 30 </a:t>
            </a:r>
            <a:r>
              <a:rPr dirty="0" err="1"/>
              <a:t>是下限。人數是規則跑出來的，每位病人都不一樣</a:t>
            </a:r>
            <a:r>
              <a:rPr dirty="0"/>
              <a:t>，</a:t>
            </a:r>
          </a:p>
          <a:p>
            <a:r>
              <a:rPr dirty="0"/>
              <a:t>  </a:t>
            </a:r>
            <a:r>
              <a:rPr dirty="0" err="1"/>
              <a:t>全體中位數是</a:t>
            </a:r>
            <a:r>
              <a:rPr dirty="0"/>
              <a:t> 64 </a:t>
            </a:r>
            <a:r>
              <a:rPr dirty="0" err="1"/>
              <a:t>位</a:t>
            </a:r>
            <a:r>
              <a:rPr dirty="0"/>
              <a:t>。</a:t>
            </a:r>
          </a:p>
          <a:p>
            <a:r>
              <a:rPr dirty="0"/>
              <a:t>· 「</a:t>
            </a:r>
            <a:r>
              <a:rPr dirty="0" err="1"/>
              <a:t>這位病人是挑漂亮的嗎</a:t>
            </a:r>
            <a:r>
              <a:rPr dirty="0"/>
              <a:t>？」→ </a:t>
            </a:r>
            <a:r>
              <a:rPr dirty="0" err="1"/>
              <a:t>不是，是程式自動挑的：八條成績最接近全體平均的那一位</a:t>
            </a:r>
            <a:r>
              <a:rPr dirty="0"/>
              <a:t>。</a:t>
            </a:r>
          </a:p>
          <a:p>
            <a:r>
              <a:rPr dirty="0"/>
              <a:t>· 「</a:t>
            </a:r>
            <a:r>
              <a:rPr dirty="0" err="1"/>
              <a:t>第</a:t>
            </a:r>
            <a:r>
              <a:rPr dirty="0"/>
              <a:t> ⑦ </a:t>
            </a:r>
            <a:r>
              <a:rPr dirty="0" err="1"/>
              <a:t>條只有第四期才有</a:t>
            </a:r>
            <a:r>
              <a:rPr dirty="0"/>
              <a:t>？」→ </a:t>
            </a:r>
            <a:r>
              <a:rPr dirty="0" err="1"/>
              <a:t>對，其他期別沒有轉移部位可比，那一格是空的、不列入平均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0112C-EAB1-F750-52EC-B9DCA3DCF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731938-EF3E-1892-DAE7-6736558B1B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AD7A82-BD36-5B56-ECF3-3C4F63B3BE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按</a:t>
            </a:r>
            <a:r>
              <a:rPr dirty="0"/>
              <a:t> 3 </a:t>
            </a:r>
            <a:r>
              <a:rPr dirty="0" err="1"/>
              <a:t>下</a:t>
            </a:r>
            <a:r>
              <a:rPr dirty="0"/>
              <a:t>】</a:t>
            </a:r>
          </a:p>
          <a:p>
            <a:r>
              <a:rPr dirty="0"/>
              <a:t>1 </a:t>
            </a:r>
            <a:r>
              <a:rPr dirty="0" err="1"/>
              <a:t>出圖</a:t>
            </a:r>
            <a:r>
              <a:rPr dirty="0"/>
              <a:t>　2 </a:t>
            </a:r>
            <a:r>
              <a:rPr dirty="0" err="1"/>
              <a:t>撈幾個人是規則決定的</a:t>
            </a:r>
            <a:r>
              <a:rPr dirty="0"/>
              <a:t>　3 </a:t>
            </a:r>
            <a:r>
              <a:rPr dirty="0" err="1"/>
              <a:t>對照組</a:t>
            </a:r>
            <a:endParaRPr dirty="0"/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上台可以這樣講</a:t>
            </a:r>
            <a:r>
              <a:rPr dirty="0"/>
              <a:t>】</a:t>
            </a:r>
          </a:p>
          <a:p>
            <a:r>
              <a:rPr dirty="0" err="1"/>
              <a:t>驗證一只驗了</a:t>
            </a:r>
            <a:r>
              <a:rPr dirty="0"/>
              <a:t> 12 </a:t>
            </a:r>
            <a:r>
              <a:rPr dirty="0" err="1"/>
              <a:t>位考題病人。驗證二我們換個做法：不看醫師挑誰，改用他寫下的</a:t>
            </a:r>
            <a:r>
              <a:rPr dirty="0"/>
              <a:t> 8 </a:t>
            </a:r>
            <a:r>
              <a:rPr dirty="0" err="1"/>
              <a:t>條規則</a:t>
            </a:r>
            <a:r>
              <a:rPr dirty="0"/>
              <a:t>，</a:t>
            </a:r>
          </a:p>
          <a:p>
            <a:r>
              <a:rPr dirty="0" err="1"/>
              <a:t>去檢查我們替</a:t>
            </a:r>
            <a:r>
              <a:rPr dirty="0"/>
              <a:t>**</a:t>
            </a:r>
            <a:r>
              <a:rPr dirty="0" err="1"/>
              <a:t>每一位</a:t>
            </a:r>
            <a:r>
              <a:rPr dirty="0"/>
              <a:t>**</a:t>
            </a:r>
            <a:r>
              <a:rPr dirty="0" err="1"/>
              <a:t>病人撈出來的那一群</a:t>
            </a:r>
            <a:r>
              <a:rPr dirty="0"/>
              <a:t>——</a:t>
            </a:r>
            <a:r>
              <a:rPr dirty="0" err="1"/>
              <a:t>這樣</a:t>
            </a:r>
            <a:r>
              <a:rPr dirty="0"/>
              <a:t> 12,196 </a:t>
            </a:r>
            <a:r>
              <a:rPr dirty="0" err="1"/>
              <a:t>位全部都驗得到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舉個例子。一位</a:t>
            </a:r>
            <a:r>
              <a:rPr dirty="0"/>
              <a:t> 59 </a:t>
            </a:r>
            <a:r>
              <a:rPr dirty="0" err="1"/>
              <a:t>歲男性、第四期、左側結腸。先把他自己從資料庫蓋掉</a:t>
            </a:r>
            <a:r>
              <a:rPr dirty="0"/>
              <a:t>，</a:t>
            </a:r>
          </a:p>
          <a:p>
            <a:r>
              <a:rPr dirty="0" err="1"/>
              <a:t>然後由近而遠一直撈人</a:t>
            </a:r>
            <a:r>
              <a:rPr dirty="0"/>
              <a:t>——</a:t>
            </a:r>
            <a:r>
              <a:rPr dirty="0" err="1"/>
              <a:t>注意</a:t>
            </a:r>
            <a:r>
              <a:rPr dirty="0"/>
              <a:t>，**</a:t>
            </a:r>
            <a:r>
              <a:rPr dirty="0" err="1"/>
              <a:t>不是撈固定的</a:t>
            </a:r>
            <a:r>
              <a:rPr dirty="0"/>
              <a:t> 30 </a:t>
            </a:r>
            <a:r>
              <a:rPr dirty="0" err="1"/>
              <a:t>位</a:t>
            </a:r>
            <a:r>
              <a:rPr dirty="0"/>
              <a:t>**，</a:t>
            </a:r>
            <a:r>
              <a:rPr dirty="0" err="1"/>
              <a:t>而是一直撈到累積</a:t>
            </a:r>
            <a:r>
              <a:rPr dirty="0"/>
              <a:t> 20 </a:t>
            </a:r>
            <a:r>
              <a:rPr dirty="0" err="1"/>
              <a:t>位已過世才停</a:t>
            </a:r>
            <a:r>
              <a:rPr dirty="0"/>
              <a:t>，</a:t>
            </a:r>
          </a:p>
          <a:p>
            <a:r>
              <a:rPr dirty="0" err="1"/>
              <a:t>人數限制在</a:t>
            </a:r>
            <a:r>
              <a:rPr dirty="0"/>
              <a:t> 30 </a:t>
            </a:r>
            <a:r>
              <a:rPr dirty="0" err="1"/>
              <a:t>到</a:t>
            </a:r>
            <a:r>
              <a:rPr dirty="0"/>
              <a:t> 300。這位病人最近的 30 </a:t>
            </a:r>
            <a:r>
              <a:rPr dirty="0" err="1"/>
              <a:t>位裡面就已經有</a:t>
            </a:r>
            <a:r>
              <a:rPr dirty="0"/>
              <a:t> 24 </a:t>
            </a:r>
            <a:r>
              <a:rPr dirty="0" err="1"/>
              <a:t>位過世了，所以停在下限</a:t>
            </a:r>
            <a:r>
              <a:rPr dirty="0"/>
              <a:t>，</a:t>
            </a:r>
          </a:p>
          <a:p>
            <a:r>
              <a:rPr dirty="0" err="1"/>
              <a:t>總共</a:t>
            </a:r>
            <a:r>
              <a:rPr dirty="0"/>
              <a:t> 30 </a:t>
            </a:r>
            <a:r>
              <a:rPr dirty="0" err="1"/>
              <a:t>位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接著拿醫師的</a:t>
            </a:r>
            <a:r>
              <a:rPr dirty="0"/>
              <a:t> 8 </a:t>
            </a:r>
            <a:r>
              <a:rPr dirty="0" err="1"/>
              <a:t>條規則，逐條數這</a:t>
            </a:r>
            <a:r>
              <a:rPr dirty="0"/>
              <a:t> 30 </a:t>
            </a:r>
            <a:r>
              <a:rPr dirty="0" err="1"/>
              <a:t>位裡有幾位符合：期別相同的</a:t>
            </a:r>
            <a:r>
              <a:rPr dirty="0"/>
              <a:t> 30 </a:t>
            </a:r>
            <a:r>
              <a:rPr dirty="0" err="1"/>
              <a:t>位，全中</a:t>
            </a:r>
            <a:r>
              <a:rPr dirty="0"/>
              <a:t>；</a:t>
            </a:r>
          </a:p>
          <a:p>
            <a:r>
              <a:rPr dirty="0" err="1"/>
              <a:t>側別相同</a:t>
            </a:r>
            <a:r>
              <a:rPr dirty="0"/>
              <a:t> 21 位，70%；</a:t>
            </a:r>
            <a:r>
              <a:rPr dirty="0" err="1"/>
              <a:t>白蛋白差在</a:t>
            </a:r>
            <a:r>
              <a:rPr dirty="0"/>
              <a:t> 0.5 </a:t>
            </a:r>
            <a:r>
              <a:rPr dirty="0" err="1"/>
              <a:t>以內</a:t>
            </a:r>
            <a:r>
              <a:rPr dirty="0"/>
              <a:t> 23 位，77%。</a:t>
            </a:r>
          </a:p>
          <a:p>
            <a:r>
              <a:rPr dirty="0" err="1"/>
              <a:t>但年齡在正負</a:t>
            </a:r>
            <a:r>
              <a:rPr dirty="0"/>
              <a:t> 3 </a:t>
            </a:r>
            <a:r>
              <a:rPr dirty="0" err="1"/>
              <a:t>歲以內的，只有</a:t>
            </a:r>
            <a:r>
              <a:rPr dirty="0"/>
              <a:t> 5 位，17%。</a:t>
            </a:r>
          </a:p>
          <a:p>
            <a:endParaRPr dirty="0"/>
          </a:p>
          <a:p>
            <a:r>
              <a:rPr dirty="0" err="1"/>
              <a:t>對照組是隨機抓</a:t>
            </a:r>
            <a:r>
              <a:rPr dirty="0"/>
              <a:t> 100 </a:t>
            </a:r>
            <a:r>
              <a:rPr dirty="0" err="1"/>
              <a:t>人。同一條期別規則，隨機只有</a:t>
            </a:r>
            <a:r>
              <a:rPr dirty="0"/>
              <a:t> 11% </a:t>
            </a:r>
            <a:r>
              <a:rPr dirty="0" err="1"/>
              <a:t>符合</a:t>
            </a:r>
            <a:r>
              <a:rPr dirty="0"/>
              <a:t>——</a:t>
            </a:r>
          </a:p>
          <a:p>
            <a:r>
              <a:rPr dirty="0"/>
              <a:t>**</a:t>
            </a:r>
            <a:r>
              <a:rPr dirty="0" err="1"/>
              <a:t>系統沒有被告知要找同期別的人，是它自己從資料學出來的</a:t>
            </a:r>
            <a:r>
              <a:rPr dirty="0"/>
              <a:t>**。</a:t>
            </a:r>
          </a:p>
          <a:p>
            <a:endParaRPr dirty="0"/>
          </a:p>
          <a:p>
            <a:r>
              <a:rPr dirty="0" err="1"/>
              <a:t>下一頁是</a:t>
            </a:r>
            <a:r>
              <a:rPr dirty="0"/>
              <a:t> 12,196 </a:t>
            </a:r>
            <a:r>
              <a:rPr dirty="0" err="1"/>
              <a:t>位全部跑完的平均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可能被問</a:t>
            </a:r>
            <a:r>
              <a:rPr dirty="0"/>
              <a:t>】</a:t>
            </a:r>
          </a:p>
          <a:p>
            <a:r>
              <a:rPr dirty="0"/>
              <a:t>· 「</a:t>
            </a:r>
            <a:r>
              <a:rPr dirty="0" err="1"/>
              <a:t>為什麼剛好</a:t>
            </a:r>
            <a:r>
              <a:rPr dirty="0"/>
              <a:t> 30 </a:t>
            </a:r>
            <a:r>
              <a:rPr dirty="0" err="1"/>
              <a:t>位</a:t>
            </a:r>
            <a:r>
              <a:rPr dirty="0"/>
              <a:t>？」→ 30 </a:t>
            </a:r>
            <a:r>
              <a:rPr dirty="0" err="1"/>
              <a:t>是下限。人數是規則跑出來的，每位病人都不一樣</a:t>
            </a:r>
            <a:r>
              <a:rPr dirty="0"/>
              <a:t>，</a:t>
            </a:r>
          </a:p>
          <a:p>
            <a:r>
              <a:rPr dirty="0"/>
              <a:t>  </a:t>
            </a:r>
            <a:r>
              <a:rPr dirty="0" err="1"/>
              <a:t>全體中位數是</a:t>
            </a:r>
            <a:r>
              <a:rPr dirty="0"/>
              <a:t> 64 </a:t>
            </a:r>
            <a:r>
              <a:rPr dirty="0" err="1"/>
              <a:t>位</a:t>
            </a:r>
            <a:r>
              <a:rPr dirty="0"/>
              <a:t>。</a:t>
            </a:r>
          </a:p>
          <a:p>
            <a:r>
              <a:rPr dirty="0"/>
              <a:t>· 「</a:t>
            </a:r>
            <a:r>
              <a:rPr dirty="0" err="1"/>
              <a:t>這位病人是挑漂亮的嗎</a:t>
            </a:r>
            <a:r>
              <a:rPr dirty="0"/>
              <a:t>？」→ </a:t>
            </a:r>
            <a:r>
              <a:rPr dirty="0" err="1"/>
              <a:t>不是，是程式自動挑的：八條成績最接近全體平均的那一位</a:t>
            </a:r>
            <a:r>
              <a:rPr dirty="0"/>
              <a:t>。</a:t>
            </a:r>
          </a:p>
          <a:p>
            <a:r>
              <a:rPr dirty="0"/>
              <a:t>· 「</a:t>
            </a:r>
            <a:r>
              <a:rPr dirty="0" err="1"/>
              <a:t>第</a:t>
            </a:r>
            <a:r>
              <a:rPr dirty="0"/>
              <a:t> ⑦ </a:t>
            </a:r>
            <a:r>
              <a:rPr dirty="0" err="1"/>
              <a:t>條只有第四期才有</a:t>
            </a:r>
            <a:r>
              <a:rPr dirty="0"/>
              <a:t>？」→ </a:t>
            </a:r>
            <a:r>
              <a:rPr dirty="0" err="1"/>
              <a:t>對，其他期別沒有轉移部位可比，那一格是空的、不列入平均</a:t>
            </a:r>
            <a:r>
              <a:rPr dirty="0"/>
              <a:t>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C12AB-71AF-3FC1-0C01-D57A00AB5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931206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按</a:t>
            </a:r>
            <a:r>
              <a:rPr dirty="0"/>
              <a:t> 5 </a:t>
            </a:r>
            <a:r>
              <a:rPr dirty="0" err="1"/>
              <a:t>下</a:t>
            </a:r>
            <a:r>
              <a:rPr dirty="0"/>
              <a:t>】</a:t>
            </a:r>
          </a:p>
          <a:p>
            <a:r>
              <a:rPr dirty="0"/>
              <a:t>1 </a:t>
            </a:r>
            <a:r>
              <a:rPr dirty="0" err="1"/>
              <a:t>三個步驟</a:t>
            </a:r>
            <a:r>
              <a:rPr dirty="0"/>
              <a:t>　2 </a:t>
            </a:r>
            <a:r>
              <a:rPr dirty="0" err="1"/>
              <a:t>出圖</a:t>
            </a:r>
            <a:r>
              <a:rPr dirty="0"/>
              <a:t>　3 </a:t>
            </a:r>
            <a:r>
              <a:rPr dirty="0" err="1"/>
              <a:t>三條線是什麼</a:t>
            </a:r>
            <a:r>
              <a:rPr dirty="0"/>
              <a:t>　4 </a:t>
            </a:r>
            <a:r>
              <a:rPr dirty="0" err="1"/>
              <a:t>怎麼判斷</a:t>
            </a:r>
            <a:r>
              <a:rPr dirty="0"/>
              <a:t>　5 </a:t>
            </a:r>
            <a:r>
              <a:rPr dirty="0" err="1"/>
              <a:t>收尾</a:t>
            </a:r>
            <a:endParaRPr dirty="0"/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上台可以這樣講</a:t>
            </a:r>
            <a:r>
              <a:rPr dirty="0"/>
              <a:t>】</a:t>
            </a:r>
          </a:p>
          <a:p>
            <a:r>
              <a:rPr dirty="0" err="1"/>
              <a:t>這是最容易懂的一種驗法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第一步，把</a:t>
            </a:r>
            <a:r>
              <a:rPr dirty="0"/>
              <a:t> 379 位新病人一個一個丟進系統，每個人都會拿到一個「12 </a:t>
            </a:r>
            <a:r>
              <a:rPr dirty="0" err="1"/>
              <a:t>個月存活率」的預測值</a:t>
            </a:r>
            <a:r>
              <a:rPr dirty="0"/>
              <a:t>。</a:t>
            </a:r>
          </a:p>
          <a:p>
            <a:r>
              <a:rPr dirty="0" err="1"/>
              <a:t>第二步，把這</a:t>
            </a:r>
            <a:r>
              <a:rPr dirty="0"/>
              <a:t> 379 </a:t>
            </a:r>
            <a:r>
              <a:rPr dirty="0" err="1"/>
              <a:t>位依照分數從低排到高，平均切成三段</a:t>
            </a:r>
            <a:r>
              <a:rPr dirty="0"/>
              <a:t>——</a:t>
            </a:r>
            <a:r>
              <a:rPr dirty="0" err="1"/>
              <a:t>系統覺得最危險的三分之一</a:t>
            </a:r>
            <a:r>
              <a:rPr dirty="0"/>
              <a:t>、</a:t>
            </a:r>
          </a:p>
          <a:p>
            <a:r>
              <a:rPr dirty="0" err="1"/>
              <a:t>中間的三分之一、最安全的三分之一</a:t>
            </a:r>
            <a:r>
              <a:rPr dirty="0"/>
              <a:t>。</a:t>
            </a:r>
          </a:p>
          <a:p>
            <a:r>
              <a:rPr dirty="0"/>
              <a:t>**</a:t>
            </a:r>
            <a:r>
              <a:rPr dirty="0" err="1"/>
              <a:t>第三步，這時候才第一次去看實際結果。分組的時候，我們完全沒有看過任何人後來怎麼了</a:t>
            </a:r>
            <a:r>
              <a:rPr dirty="0"/>
              <a:t>。**</a:t>
            </a:r>
          </a:p>
          <a:p>
            <a:endParaRPr dirty="0"/>
          </a:p>
          <a:p>
            <a:r>
              <a:rPr dirty="0" err="1"/>
              <a:t>圖上這三條線，是這三組人「後來實際的存活曲線</a:t>
            </a:r>
            <a:r>
              <a:rPr dirty="0"/>
              <a:t>」。</a:t>
            </a:r>
            <a:r>
              <a:rPr dirty="0" err="1"/>
              <a:t>每條線從</a:t>
            </a:r>
            <a:r>
              <a:rPr dirty="0"/>
              <a:t> 100% </a:t>
            </a:r>
            <a:r>
              <a:rPr dirty="0" err="1"/>
              <a:t>出發</a:t>
            </a:r>
            <a:r>
              <a:rPr dirty="0"/>
              <a:t>，</a:t>
            </a:r>
          </a:p>
          <a:p>
            <a:r>
              <a:rPr dirty="0" err="1"/>
              <a:t>那一組裡每有一位過世，線就往下掉一階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怎麼判斷系統有沒有用？很簡單</a:t>
            </a:r>
            <a:r>
              <a:rPr dirty="0"/>
              <a:t>：**</a:t>
            </a:r>
            <a:r>
              <a:rPr dirty="0" err="1"/>
              <a:t>如果系統是亂猜的，這三條線會纏在一起</a:t>
            </a:r>
            <a:r>
              <a:rPr dirty="0"/>
              <a:t>**。</a:t>
            </a:r>
          </a:p>
          <a:p>
            <a:r>
              <a:rPr dirty="0" err="1"/>
              <a:t>實際上三條線一路分開，而且順序完全正確</a:t>
            </a:r>
            <a:r>
              <a:rPr dirty="0"/>
              <a:t>——</a:t>
            </a:r>
            <a:r>
              <a:rPr dirty="0" err="1"/>
              <a:t>系統說最危險的那一組，掉得最快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最危險那組</a:t>
            </a:r>
            <a:r>
              <a:rPr dirty="0"/>
              <a:t> 119 </a:t>
            </a:r>
            <a:r>
              <a:rPr dirty="0" err="1"/>
              <a:t>位，一年內走了</a:t>
            </a:r>
            <a:r>
              <a:rPr dirty="0"/>
              <a:t> 28 </a:t>
            </a:r>
            <a:r>
              <a:rPr dirty="0" err="1"/>
              <a:t>位；最安全那組</a:t>
            </a:r>
            <a:r>
              <a:rPr dirty="0"/>
              <a:t> 131 </a:t>
            </a:r>
            <a:r>
              <a:rPr dirty="0" err="1"/>
              <a:t>位，只走了</a:t>
            </a:r>
            <a:r>
              <a:rPr dirty="0"/>
              <a:t> 1 </a:t>
            </a:r>
            <a:r>
              <a:rPr dirty="0" err="1"/>
              <a:t>位</a:t>
            </a:r>
            <a:r>
              <a:rPr dirty="0"/>
              <a:t>。**</a:t>
            </a:r>
            <a:r>
              <a:rPr dirty="0" err="1"/>
              <a:t>差</a:t>
            </a:r>
            <a:r>
              <a:rPr dirty="0"/>
              <a:t> 28 </a:t>
            </a:r>
            <a:r>
              <a:rPr dirty="0" err="1"/>
              <a:t>倍</a:t>
            </a:r>
            <a:r>
              <a:rPr dirty="0"/>
              <a:t>。**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可能被問</a:t>
            </a:r>
            <a:r>
              <a:rPr dirty="0"/>
              <a:t>】</a:t>
            </a:r>
          </a:p>
          <a:p>
            <a:r>
              <a:rPr dirty="0"/>
              <a:t>· 「</a:t>
            </a:r>
            <a:r>
              <a:rPr dirty="0" err="1"/>
              <a:t>為什麼切三段不是五段</a:t>
            </a:r>
            <a:r>
              <a:rPr dirty="0"/>
              <a:t>？」→ </a:t>
            </a:r>
            <a:r>
              <a:rPr dirty="0" err="1"/>
              <a:t>三段是為了每組有足夠人數（各約</a:t>
            </a:r>
            <a:r>
              <a:rPr dirty="0"/>
              <a:t> 126 </a:t>
            </a:r>
            <a:r>
              <a:rPr dirty="0" err="1"/>
              <a:t>位）算出穩定的曲線</a:t>
            </a:r>
            <a:r>
              <a:rPr dirty="0"/>
              <a:t>。</a:t>
            </a:r>
          </a:p>
          <a:p>
            <a:r>
              <a:rPr dirty="0"/>
              <a:t>  </a:t>
            </a:r>
            <a:r>
              <a:rPr dirty="0" err="1"/>
              <a:t>切五段每組只剩</a:t>
            </a:r>
            <a:r>
              <a:rPr dirty="0"/>
              <a:t> 76 </a:t>
            </a:r>
            <a:r>
              <a:rPr dirty="0" err="1"/>
              <a:t>位，最安全那組可能一個死亡事件都沒有，曲線會是一條平線</a:t>
            </a:r>
            <a:r>
              <a:rPr dirty="0"/>
              <a:t>。</a:t>
            </a:r>
          </a:p>
          <a:p>
            <a:r>
              <a:rPr dirty="0"/>
              <a:t>· </a:t>
            </a:r>
            <a:r>
              <a:rPr dirty="0" err="1"/>
              <a:t>這頁不要談</a:t>
            </a:r>
            <a:r>
              <a:rPr dirty="0"/>
              <a:t> </a:t>
            </a:r>
            <a:r>
              <a:rPr dirty="0" err="1"/>
              <a:t>C-index，它的價值就是不用統計量也講得清楚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按</a:t>
            </a:r>
            <a:r>
              <a:rPr dirty="0"/>
              <a:t> 4 </a:t>
            </a:r>
            <a:r>
              <a:rPr dirty="0" err="1"/>
              <a:t>下</a:t>
            </a:r>
            <a:r>
              <a:rPr dirty="0"/>
              <a:t>】</a:t>
            </a:r>
          </a:p>
          <a:p>
            <a:r>
              <a:rPr dirty="0"/>
              <a:t>1 </a:t>
            </a:r>
            <a:r>
              <a:rPr dirty="0" err="1"/>
              <a:t>站得住的</a:t>
            </a:r>
            <a:r>
              <a:rPr dirty="0"/>
              <a:t>　2 </a:t>
            </a:r>
            <a:r>
              <a:rPr dirty="0" err="1"/>
              <a:t>三個限制</a:t>
            </a:r>
            <a:r>
              <a:rPr dirty="0"/>
              <a:t>　3 </a:t>
            </a:r>
            <a:r>
              <a:rPr dirty="0" err="1"/>
              <a:t>真正的價值</a:t>
            </a:r>
            <a:r>
              <a:rPr dirty="0"/>
              <a:t>　4 </a:t>
            </a:r>
            <a:r>
              <a:rPr dirty="0" err="1"/>
              <a:t>下一步</a:t>
            </a:r>
            <a:endParaRPr dirty="0"/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上台可以這樣講</a:t>
            </a:r>
            <a:r>
              <a:rPr dirty="0"/>
              <a:t>】</a:t>
            </a:r>
          </a:p>
          <a:p>
            <a:r>
              <a:rPr dirty="0" err="1"/>
              <a:t>總結一下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站得住的有四點。醫師手挑的</a:t>
            </a:r>
            <a:r>
              <a:rPr dirty="0"/>
              <a:t> 140 位，30.7% </a:t>
            </a:r>
            <a:r>
              <a:rPr dirty="0" err="1"/>
              <a:t>落在我們的前</a:t>
            </a:r>
            <a:r>
              <a:rPr dirty="0"/>
              <a:t> 200 </a:t>
            </a:r>
            <a:r>
              <a:rPr dirty="0" err="1"/>
              <a:t>名，是亂數的</a:t>
            </a:r>
            <a:r>
              <a:rPr dirty="0"/>
              <a:t> 19 </a:t>
            </a:r>
            <a:r>
              <a:rPr dirty="0" err="1"/>
              <a:t>倍</a:t>
            </a:r>
            <a:r>
              <a:rPr dirty="0"/>
              <a:t>，</a:t>
            </a:r>
          </a:p>
          <a:p>
            <a:r>
              <a:rPr dirty="0" err="1"/>
              <a:t>也是重疊上限</a:t>
            </a:r>
            <a:r>
              <a:rPr dirty="0"/>
              <a:t> 36% </a:t>
            </a:r>
            <a:r>
              <a:rPr dirty="0" err="1"/>
              <a:t>的</a:t>
            </a:r>
            <a:r>
              <a:rPr dirty="0"/>
              <a:t> 86%。</a:t>
            </a:r>
            <a:r>
              <a:rPr dirty="0" err="1"/>
              <a:t>醫師的</a:t>
            </a:r>
            <a:r>
              <a:rPr dirty="0"/>
              <a:t> 8 </a:t>
            </a:r>
            <a:r>
              <a:rPr dirty="0" err="1"/>
              <a:t>條臨床尺度，有</a:t>
            </a:r>
            <a:r>
              <a:rPr dirty="0"/>
              <a:t> 6 </a:t>
            </a:r>
            <a:r>
              <a:rPr dirty="0" err="1"/>
              <a:t>條明顯勝過隨機</a:t>
            </a:r>
            <a:r>
              <a:rPr dirty="0"/>
              <a:t>，</a:t>
            </a:r>
          </a:p>
          <a:p>
            <a:r>
              <a:rPr dirty="0" err="1"/>
              <a:t>期別是</a:t>
            </a:r>
            <a:r>
              <a:rPr dirty="0"/>
              <a:t> 97% </a:t>
            </a:r>
            <a:r>
              <a:rPr dirty="0" err="1"/>
              <a:t>對</a:t>
            </a:r>
            <a:r>
              <a:rPr dirty="0"/>
              <a:t> 26%，</a:t>
            </a:r>
            <a:r>
              <a:rPr dirty="0" err="1"/>
              <a:t>第四期轉移部位是</a:t>
            </a:r>
            <a:r>
              <a:rPr dirty="0"/>
              <a:t> 56% </a:t>
            </a:r>
            <a:r>
              <a:rPr dirty="0" err="1"/>
              <a:t>對</a:t>
            </a:r>
            <a:r>
              <a:rPr dirty="0"/>
              <a:t> 5%。</a:t>
            </a:r>
            <a:r>
              <a:rPr dirty="0" err="1"/>
              <a:t>排序能力方面，隨機抓兩位病人判斷誰先走</a:t>
            </a:r>
            <a:r>
              <a:rPr dirty="0"/>
              <a:t>，</a:t>
            </a:r>
          </a:p>
          <a:p>
            <a:r>
              <a:rPr dirty="0" err="1"/>
              <a:t>判對</a:t>
            </a:r>
            <a:r>
              <a:rPr dirty="0"/>
              <a:t> 76.6%，</a:t>
            </a:r>
            <a:r>
              <a:rPr dirty="0" err="1"/>
              <a:t>而且在沒看過的新病人身上跟舊病人的</a:t>
            </a:r>
            <a:r>
              <a:rPr dirty="0"/>
              <a:t> 77.5% </a:t>
            </a:r>
            <a:r>
              <a:rPr dirty="0" err="1"/>
              <a:t>幾乎一樣</a:t>
            </a:r>
            <a:r>
              <a:rPr dirty="0"/>
              <a:t>。</a:t>
            </a:r>
          </a:p>
          <a:p>
            <a:r>
              <a:rPr dirty="0" err="1"/>
              <a:t>系統事先分的三組，一年後實際存活是</a:t>
            </a:r>
            <a:r>
              <a:rPr dirty="0"/>
              <a:t> 77.8%、91.2%、99.2%。</a:t>
            </a:r>
          </a:p>
          <a:p>
            <a:endParaRPr dirty="0"/>
          </a:p>
          <a:p>
            <a:r>
              <a:rPr dirty="0" err="1"/>
              <a:t>但有三個限制要講清楚。第一</a:t>
            </a:r>
            <a:r>
              <a:rPr dirty="0"/>
              <a:t>，**</a:t>
            </a:r>
            <a:r>
              <a:rPr dirty="0" err="1"/>
              <a:t>年齡和性別幾乎沒配上</a:t>
            </a:r>
            <a:r>
              <a:rPr dirty="0"/>
              <a:t>**，</a:t>
            </a:r>
            <a:r>
              <a:rPr dirty="0" err="1"/>
              <a:t>年齡正負</a:t>
            </a:r>
            <a:r>
              <a:rPr dirty="0"/>
              <a:t> 3 </a:t>
            </a:r>
            <a:r>
              <a:rPr dirty="0" err="1"/>
              <a:t>歲只有</a:t>
            </a:r>
            <a:r>
              <a:rPr dirty="0"/>
              <a:t> 20%，</a:t>
            </a:r>
          </a:p>
          <a:p>
            <a:r>
              <a:rPr dirty="0" err="1"/>
              <a:t>因為模型給年齡的權重只有第一主軸的</a:t>
            </a:r>
            <a:r>
              <a:rPr dirty="0"/>
              <a:t> 0.39%；85 </a:t>
            </a:r>
            <a:r>
              <a:rPr dirty="0" err="1"/>
              <a:t>歲以上高估</a:t>
            </a:r>
            <a:r>
              <a:rPr dirty="0"/>
              <a:t> 11.1 </a:t>
            </a:r>
            <a:r>
              <a:rPr dirty="0" err="1"/>
              <a:t>個百分點</a:t>
            </a:r>
            <a:r>
              <a:rPr dirty="0"/>
              <a:t>，</a:t>
            </a:r>
          </a:p>
          <a:p>
            <a:r>
              <a:rPr dirty="0" err="1"/>
              <a:t>不過那一格只有</a:t>
            </a:r>
            <a:r>
              <a:rPr dirty="0"/>
              <a:t> 19 </a:t>
            </a:r>
            <a:r>
              <a:rPr dirty="0" err="1"/>
              <a:t>位，是提示不是定論</a:t>
            </a:r>
            <a:r>
              <a:rPr dirty="0"/>
              <a:t>。</a:t>
            </a:r>
          </a:p>
          <a:p>
            <a:r>
              <a:rPr dirty="0" err="1"/>
              <a:t>第二</a:t>
            </a:r>
            <a:r>
              <a:rPr dirty="0"/>
              <a:t>，**</a:t>
            </a:r>
            <a:r>
              <a:rPr dirty="0" err="1"/>
              <a:t>光看「期別加年齡」兩個變數就排得比我們準</a:t>
            </a:r>
            <a:r>
              <a:rPr dirty="0"/>
              <a:t>**，</a:t>
            </a:r>
            <a:r>
              <a:rPr dirty="0" err="1"/>
              <a:t>判對</a:t>
            </a:r>
            <a:r>
              <a:rPr dirty="0"/>
              <a:t> 84.1% </a:t>
            </a:r>
            <a:r>
              <a:rPr dirty="0" err="1"/>
              <a:t>對我們的</a:t>
            </a:r>
            <a:r>
              <a:rPr dirty="0"/>
              <a:t> 76.6%，</a:t>
            </a:r>
          </a:p>
          <a:p>
            <a:r>
              <a:rPr dirty="0" err="1"/>
              <a:t>統計上是真的輸。第三</a:t>
            </a:r>
            <a:r>
              <a:rPr dirty="0"/>
              <a:t>，**5 </a:t>
            </a:r>
            <a:r>
              <a:rPr dirty="0" err="1"/>
              <a:t>年存活率還沒有外部證據</a:t>
            </a:r>
            <a:r>
              <a:rPr dirty="0"/>
              <a:t>**，</a:t>
            </a:r>
            <a:r>
              <a:rPr dirty="0" err="1"/>
              <a:t>而且整體偏樂觀</a:t>
            </a:r>
            <a:r>
              <a:rPr dirty="0"/>
              <a:t> 4.8 </a:t>
            </a:r>
            <a:r>
              <a:rPr dirty="0" err="1"/>
              <a:t>個百分點</a:t>
            </a:r>
            <a:r>
              <a:rPr dirty="0"/>
              <a:t>——</a:t>
            </a:r>
          </a:p>
          <a:p>
            <a:r>
              <a:rPr dirty="0" err="1"/>
              <a:t>主因是新世代的第四期比訓練世代多了</a:t>
            </a:r>
            <a:r>
              <a:rPr dirty="0"/>
              <a:t> 43%。</a:t>
            </a:r>
          </a:p>
          <a:p>
            <a:endParaRPr dirty="0"/>
          </a:p>
          <a:p>
            <a:r>
              <a:rPr dirty="0" err="1"/>
              <a:t>那這套系統真正的價值在哪？它給的不是一個分數，是一群真實病人的病歷加上他們實際的</a:t>
            </a:r>
            <a:endParaRPr dirty="0"/>
          </a:p>
          <a:p>
            <a:r>
              <a:rPr dirty="0" err="1"/>
              <a:t>存活曲線，醫師點得進去看是哪些人、像在哪裡。期別排得出誰危險</a:t>
            </a:r>
            <a:r>
              <a:rPr dirty="0"/>
              <a:t>，</a:t>
            </a:r>
          </a:p>
          <a:p>
            <a:r>
              <a:rPr dirty="0" err="1"/>
              <a:t>但它答不了「跟我一樣的人後來怎麼了</a:t>
            </a:r>
            <a:r>
              <a:rPr dirty="0"/>
              <a:t>」。</a:t>
            </a:r>
          </a:p>
          <a:p>
            <a:endParaRPr dirty="0"/>
          </a:p>
          <a:p>
            <a:r>
              <a:rPr dirty="0" err="1"/>
              <a:t>下一步有三件事：把年齡放進檢索距離、這</a:t>
            </a:r>
            <a:r>
              <a:rPr dirty="0"/>
              <a:t> 379 </a:t>
            </a:r>
            <a:r>
              <a:rPr dirty="0" err="1"/>
              <a:t>位持續追蹤滿</a:t>
            </a:r>
            <a:r>
              <a:rPr dirty="0"/>
              <a:t> 3 </a:t>
            </a:r>
            <a:r>
              <a:rPr dirty="0" err="1"/>
              <a:t>年後補做長期驗證</a:t>
            </a:r>
            <a:r>
              <a:rPr dirty="0"/>
              <a:t>、</a:t>
            </a:r>
          </a:p>
          <a:p>
            <a:r>
              <a:rPr dirty="0" err="1"/>
              <a:t>以及用新世代資料重新訓練修正偏樂觀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可能被問</a:t>
            </a:r>
            <a:r>
              <a:rPr dirty="0"/>
              <a:t>】</a:t>
            </a:r>
          </a:p>
          <a:p>
            <a:r>
              <a:rPr dirty="0"/>
              <a:t>· 「</a:t>
            </a:r>
            <a:r>
              <a:rPr dirty="0" err="1"/>
              <a:t>跟直接看期別比呢</a:t>
            </a:r>
            <a:r>
              <a:rPr dirty="0"/>
              <a:t>？」→ </a:t>
            </a:r>
            <a:r>
              <a:rPr dirty="0" err="1"/>
              <a:t>這題我們自己先算了，排序上確實輸。但</a:t>
            </a:r>
            <a:r>
              <a:rPr dirty="0"/>
              <a:t> C-index </a:t>
            </a:r>
            <a:r>
              <a:rPr dirty="0" err="1"/>
              <a:t>只量排序</a:t>
            </a:r>
            <a:r>
              <a:rPr dirty="0"/>
              <a:t>，</a:t>
            </a:r>
          </a:p>
          <a:p>
            <a:r>
              <a:rPr dirty="0"/>
              <a:t>  </a:t>
            </a:r>
            <a:r>
              <a:rPr dirty="0" err="1"/>
              <a:t>期別給不出一條存活曲線。這句要講得乾脆，不要迴避</a:t>
            </a:r>
            <a:r>
              <a:rPr dirty="0"/>
              <a:t>。</a:t>
            </a:r>
          </a:p>
          <a:p>
            <a:r>
              <a:rPr dirty="0"/>
              <a:t>· </a:t>
            </a:r>
            <a:r>
              <a:rPr dirty="0" err="1"/>
              <a:t>口頭補一句：訓練資料是</a:t>
            </a:r>
            <a:r>
              <a:rPr dirty="0"/>
              <a:t> AI </a:t>
            </a:r>
            <a:r>
              <a:rPr dirty="0" err="1"/>
              <a:t>去識別擬真資料，臨床數字不可引用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261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ANIM_S2_0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23875" y="1952625"/>
            <a:ext cx="5857875" cy="1000125"/>
          </a:xfrm>
          <a:prstGeom prst="rect">
            <a:avLst/>
          </a:prstGeom>
        </p:spPr>
      </p:pic>
      <p:pic>
        <p:nvPicPr>
          <p:cNvPr id="8" name="ANIM_S2_0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23875" y="3095625"/>
            <a:ext cx="5857875" cy="1047750"/>
          </a:xfrm>
          <a:prstGeom prst="rect">
            <a:avLst/>
          </a:prstGeom>
        </p:spPr>
      </p:pic>
      <p:pic>
        <p:nvPicPr>
          <p:cNvPr id="9" name="ANIM_S2_0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23875" y="4238625"/>
            <a:ext cx="5857875" cy="1666875"/>
          </a:xfrm>
          <a:prstGeom prst="rect">
            <a:avLst/>
          </a:prstGeom>
        </p:spPr>
      </p:pic>
      <p:pic>
        <p:nvPicPr>
          <p:cNvPr id="10" name="ANIM_S2_TAKEAWAY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523875" y="6067425"/>
            <a:ext cx="5857875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4568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ANIM_S3_0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28625" y="2286000"/>
            <a:ext cx="2028825" cy="2381250"/>
          </a:xfrm>
          <a:prstGeom prst="rect">
            <a:avLst/>
          </a:prstGeom>
        </p:spPr>
      </p:pic>
      <p:pic>
        <p:nvPicPr>
          <p:cNvPr id="10" name="ANIM_S3_0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457450" y="2286000"/>
            <a:ext cx="2286000" cy="2381250"/>
          </a:xfrm>
          <a:prstGeom prst="rect">
            <a:avLst/>
          </a:prstGeom>
        </p:spPr>
      </p:pic>
      <p:pic>
        <p:nvPicPr>
          <p:cNvPr id="11" name="ANIM_S3_0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743450" y="2286000"/>
            <a:ext cx="2295525" cy="2381250"/>
          </a:xfrm>
          <a:prstGeom prst="rect">
            <a:avLst/>
          </a:prstGeom>
        </p:spPr>
      </p:pic>
      <p:pic>
        <p:nvPicPr>
          <p:cNvPr id="12" name="ANIM_S3_04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038975" y="2286000"/>
            <a:ext cx="2286000" cy="2381250"/>
          </a:xfrm>
          <a:prstGeom prst="rect">
            <a:avLst/>
          </a:prstGeom>
        </p:spPr>
      </p:pic>
      <p:pic>
        <p:nvPicPr>
          <p:cNvPr id="13" name="ANIM_S3_05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9324975" y="2286000"/>
            <a:ext cx="2447925" cy="2381250"/>
          </a:xfrm>
          <a:prstGeom prst="rect">
            <a:avLst/>
          </a:prstGeom>
        </p:spPr>
      </p:pic>
      <p:pic>
        <p:nvPicPr>
          <p:cNvPr id="14" name="ANIM_S3_CONCLUSION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523875" y="5143500"/>
            <a:ext cx="1114425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6173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50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2C5F8D"/>
                </a:solidFill>
                <a:latin typeface="Calibri"/>
              </a:rPr>
              <a:t>INTERFACE · ONE SENTENCE → 23 STRUCTURED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2213A"/>
                </a:solidFill>
                <a:latin typeface="Cambria"/>
              </a:rPr>
              <a:t>先用一句話描述病患，再確認模型實際採用的 23 個特徵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9848"/>
            <a:ext cx="11055096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472"/>
                </a:solidFill>
                <a:latin typeface="Calibri"/>
              </a:rPr>
              <a:t>主輸入框是分析的唯一依據；快速建立、完整範例與裝置聽寫只負責協助輸入。下一步會清楚標示每個欄位的來源，醫師可修改後再執行。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110550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4AE"/>
                </a:solidFill>
                <a:latin typeface="Calibri"/>
              </a:rPr>
              <a:t>PROJECT CRC-ORACLE  ·  REAL-WORLD DATA → PERSONALIZED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887" y="4040342"/>
            <a:ext cx="4489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5B6472"/>
                </a:solidFill>
                <a:latin typeface="Calibri"/>
              </a:rPr>
              <a:t>STEP 1　主輸入框即時辨識；可用快速建立、完整範例或裝置聽寫輔助輸入。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4023360"/>
            <a:ext cx="6272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5B6472"/>
                </a:solidFill>
                <a:latin typeface="Calibri"/>
              </a:rPr>
              <a:t>STEP 2　23 格集中確認：綠底＝句子解析、藍底＝手動、琥珀底＝母體預設。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433534"/>
            <a:ext cx="2615184" cy="17556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49808" y="4616414"/>
            <a:ext cx="237744" cy="237744"/>
          </a:xfrm>
          <a:prstGeom prst="ellipse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2C5F8D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945598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2213A"/>
                </a:solidFill>
                <a:latin typeface="Calibri"/>
              </a:rPr>
              <a:t>主輸入框是唯一分析依據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457662"/>
            <a:ext cx="224942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dirty="0" err="1">
                <a:solidFill>
                  <a:srgbClr val="5B6472"/>
                </a:solidFill>
                <a:latin typeface="Calibri"/>
              </a:rPr>
              <a:t>輔助欄位或範例加入後都會回寫主輸入框，不會暗中覆蓋醫師輸入</a:t>
            </a:r>
            <a:r>
              <a:rPr sz="950" b="0" dirty="0">
                <a:solidFill>
                  <a:srgbClr val="5B6472"/>
                </a:solidFill>
                <a:latin typeface="Calibri"/>
              </a:rPr>
              <a:t>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4433534"/>
            <a:ext cx="2615184" cy="17556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38728" y="4616414"/>
            <a:ext cx="237744" cy="237744"/>
          </a:xfrm>
          <a:prstGeom prst="ellipse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2C5F8D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4945598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2213A"/>
                </a:solidFill>
                <a:latin typeface="Calibri"/>
              </a:rPr>
              <a:t>即時提示建議補充欄位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5457662"/>
            <a:ext cx="224942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5B6472"/>
                </a:solidFill>
                <a:latin typeface="Calibri"/>
              </a:rPr>
              <a:t>輸入時顯示已辨識數量，並以醒目關鍵字提示尚可補充的臨床資訊。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4433534"/>
            <a:ext cx="2615184" cy="17556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327648" y="4616414"/>
            <a:ext cx="237744" cy="237744"/>
          </a:xfrm>
          <a:prstGeom prst="ellipse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2C5F8D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4945598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2213A"/>
                </a:solidFill>
                <a:latin typeface="Calibri"/>
              </a:rPr>
              <a:t>裝置聽寫，不錄音不上傳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5457662"/>
            <a:ext cx="224942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5B6472"/>
                </a:solidFill>
                <a:latin typeface="Calibri"/>
              </a:rPr>
              <a:t>按鈕會提示 Mac 使用 Fn、Windows 使用 Win + H 啟動系統聽寫。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33687" y="4433534"/>
            <a:ext cx="2615184" cy="17556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116567" y="4616414"/>
            <a:ext cx="237744" cy="237744"/>
          </a:xfrm>
          <a:prstGeom prst="ellipse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2C5F8D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4945598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2213A"/>
                </a:solidFill>
                <a:latin typeface="Calibri"/>
              </a:rPr>
              <a:t>23 項集中確認並標來源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7" y="5457662"/>
            <a:ext cx="224942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5B6472"/>
                </a:solidFill>
                <a:latin typeface="Calibri"/>
              </a:rPr>
              <a:t>數值與類別資料置於同一頁籤；母體中位數／眾數代入以琥珀色凸顯。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14A44A4-4BBD-798D-A10A-472E1F3351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703" y="1577340"/>
            <a:ext cx="5405814" cy="201494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8C53B00-1D15-2871-D10D-E20C870CC1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3743" y="1367079"/>
            <a:ext cx="5005128" cy="155407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4B8CAA6-6B7D-6B92-B734-AF51392587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4815" y="2908664"/>
            <a:ext cx="5041067" cy="1009323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A829AC4-A07C-698E-7463-C48D0A7C2EF5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5862517" y="2046514"/>
            <a:ext cx="465131" cy="5382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42BE46C-205F-1E2D-7A9C-0F36C82F2A8A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5862517" y="2584813"/>
            <a:ext cx="465131" cy="6047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6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4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6" grpId="0"/>
      <p:bldP spid="17" grpId="0"/>
      <p:bldP spid="18" grpId="0" animBg="1"/>
      <p:bldP spid="19" grpId="0" animBg="1"/>
      <p:bldP spid="20" grpId="0"/>
      <p:bldP spid="21" grpId="0"/>
      <p:bldP spid="22" grpId="0" animBg="1"/>
      <p:bldP spid="23" grpId="0" animBg="1"/>
      <p:bldP spid="24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50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2C5F8D"/>
                </a:solidFill>
                <a:latin typeface="Calibri"/>
              </a:rPr>
              <a:t>DEMO RESULT · 41 HISTORICAL PATIENTS, NOT A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2213A"/>
                </a:solidFill>
                <a:latin typeface="Cambria"/>
              </a:rPr>
              <a:t>一頁同時看見相似族群、存活曲線、病患比較與 FAMD 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9848"/>
            <a:ext cx="11055096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472"/>
                </a:solidFill>
                <a:latin typeface="Calibri"/>
              </a:rPr>
              <a:t>同一位 68 歲第二期病人，模型從 12,196 位歷史病患中找出標準化距離 0.36 內的 41 位，累積 22 個死亡事件，並在分析總覽同步呈現四個區塊。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110550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4AE"/>
                </a:solidFill>
                <a:latin typeface="Calibri"/>
              </a:rPr>
              <a:t>PROJECT CRC-ORACLE  ·  REAL-WORLD DATA → PERSONALIZED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4076289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dirty="0">
                <a:solidFill>
                  <a:srgbClr val="9AA4AE"/>
                </a:solidFill>
                <a:latin typeface="Calibri"/>
              </a:rPr>
              <a:t>藍線＝41 </a:t>
            </a:r>
            <a:r>
              <a:rPr sz="850" b="0" dirty="0" err="1">
                <a:solidFill>
                  <a:srgbClr val="9AA4AE"/>
                </a:solidFill>
                <a:latin typeface="Calibri"/>
              </a:rPr>
              <a:t>位相似族群的</a:t>
            </a:r>
            <a:r>
              <a:rPr sz="850" b="0" dirty="0">
                <a:solidFill>
                  <a:srgbClr val="9AA4AE"/>
                </a:solidFill>
                <a:latin typeface="Calibri"/>
              </a:rPr>
              <a:t> KM </a:t>
            </a:r>
            <a:r>
              <a:rPr sz="850" b="0" dirty="0" err="1">
                <a:solidFill>
                  <a:srgbClr val="9AA4AE"/>
                </a:solidFill>
                <a:latin typeface="Calibri"/>
              </a:rPr>
              <a:t>曲線（淺色</a:t>
            </a:r>
            <a:r>
              <a:rPr sz="850" b="0" dirty="0">
                <a:solidFill>
                  <a:srgbClr val="9AA4AE"/>
                </a:solidFill>
                <a:latin typeface="Calibri"/>
              </a:rPr>
              <a:t> Greenwood 95% CI），</a:t>
            </a:r>
            <a:r>
              <a:rPr sz="850" b="0" dirty="0" err="1">
                <a:solidFill>
                  <a:srgbClr val="9AA4AE"/>
                </a:solidFill>
                <a:latin typeface="Calibri"/>
              </a:rPr>
              <a:t>灰線＝全體</a:t>
            </a:r>
            <a:r>
              <a:rPr sz="850" b="0" dirty="0">
                <a:solidFill>
                  <a:srgbClr val="9AA4AE"/>
                </a:solidFill>
                <a:latin typeface="Calibri"/>
              </a:rPr>
              <a:t> 12,196 </a:t>
            </a:r>
            <a:r>
              <a:rPr sz="850" b="0" dirty="0" err="1">
                <a:solidFill>
                  <a:srgbClr val="9AA4AE"/>
                </a:solidFill>
                <a:latin typeface="Calibri"/>
              </a:rPr>
              <a:t>位</a:t>
            </a:r>
            <a:r>
              <a:rPr sz="850" b="0" dirty="0">
                <a:solidFill>
                  <a:srgbClr val="9AA4AE"/>
                </a:solidFill>
                <a:latin typeface="Calibri"/>
              </a:rPr>
              <a:t>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7892" y="3299100"/>
            <a:ext cx="2596779" cy="178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dirty="0" err="1">
                <a:solidFill>
                  <a:srgbClr val="FF0000"/>
                </a:solidFill>
                <a:latin typeface="Calibri"/>
              </a:rPr>
              <a:t>畫面呈現歷史族群統計，不是個人化預</a:t>
            </a:r>
            <a:r>
              <a:rPr lang="ja-JP" altLang="en-US" sz="1050" b="0">
                <a:solidFill>
                  <a:srgbClr val="FF0000"/>
                </a:solidFill>
                <a:latin typeface="Calibri"/>
              </a:rPr>
              <a:t>測</a:t>
            </a:r>
            <a:endParaRPr sz="1050" b="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706476" y="5788152"/>
            <a:ext cx="3455829" cy="97840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15839" y="5940924"/>
            <a:ext cx="2560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 err="1">
                <a:solidFill>
                  <a:srgbClr val="12213A"/>
                </a:solidFill>
                <a:latin typeface="Calibri"/>
              </a:rPr>
              <a:t>醫師可在同頁交叉確認</a:t>
            </a:r>
            <a:endParaRPr sz="1200" b="1" dirty="0">
              <a:solidFill>
                <a:srgbClr val="12213A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15839" y="6255649"/>
            <a:ext cx="3126933" cy="358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dirty="0" err="1">
                <a:solidFill>
                  <a:srgbClr val="5B6472"/>
                </a:solidFill>
                <a:latin typeface="Calibri"/>
              </a:rPr>
              <a:t>左側閱讀存活與術後結果；右側核對目標病患、相似族群分布及其</a:t>
            </a:r>
            <a:r>
              <a:rPr sz="1050" b="0" dirty="0">
                <a:solidFill>
                  <a:srgbClr val="5B6472"/>
                </a:solidFill>
                <a:latin typeface="Calibri"/>
              </a:rPr>
              <a:t> FAMD </a:t>
            </a:r>
            <a:r>
              <a:rPr sz="1050" b="0" dirty="0" err="1">
                <a:solidFill>
                  <a:srgbClr val="5B6472"/>
                </a:solidFill>
                <a:latin typeface="Calibri"/>
              </a:rPr>
              <a:t>主成分空間位置</a:t>
            </a:r>
            <a:r>
              <a:rPr sz="1050" b="0" dirty="0">
                <a:solidFill>
                  <a:srgbClr val="5B6472"/>
                </a:solidFill>
                <a:latin typeface="Calibri"/>
              </a:rPr>
              <a:t>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94726" y="5788152"/>
            <a:ext cx="3236661" cy="9806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04090" y="5948059"/>
            <a:ext cx="2560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 err="1">
                <a:solidFill>
                  <a:srgbClr val="A86A1F"/>
                </a:solidFill>
                <a:latin typeface="Calibri"/>
              </a:rPr>
              <a:t>臨床使用提醒</a:t>
            </a:r>
            <a:endParaRPr sz="1100" b="1" dirty="0">
              <a:solidFill>
                <a:srgbClr val="A86A1F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04089" y="6227925"/>
            <a:ext cx="3017569" cy="341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dirty="0" err="1">
                <a:solidFill>
                  <a:srgbClr val="5B6472"/>
                </a:solidFill>
                <a:latin typeface="Calibri"/>
              </a:rPr>
              <a:t>僅呈現去識別化歷史病患資料；模型未納入所有臨床因素，醫師仍須依完整病歷、指引與專業判斷決策</a:t>
            </a:r>
            <a:r>
              <a:rPr sz="1000" b="0" dirty="0">
                <a:solidFill>
                  <a:srgbClr val="5B6472"/>
                </a:solidFill>
                <a:latin typeface="Calibri"/>
              </a:rPr>
              <a:t>。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31E16BB-B22B-2D20-9610-A6D7403D84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604" y="3681520"/>
            <a:ext cx="2516514" cy="190776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BBA2353-E099-ED49-D16D-93B518FBB2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514" y="3954123"/>
            <a:ext cx="1919145" cy="154784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5D5C35A-45C4-4323-4132-B4F6B8ACB3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55" y="1335295"/>
            <a:ext cx="4662097" cy="235888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39DD694-083B-139D-7D00-3F09F6163A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9055" y="3950899"/>
            <a:ext cx="2174484" cy="15510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73000" y="3687432"/>
            <a:ext cx="123395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dirty="0" err="1">
                <a:solidFill>
                  <a:srgbClr val="FF0000"/>
                </a:solidFill>
                <a:latin typeface="Calibri"/>
              </a:rPr>
              <a:t>這</a:t>
            </a:r>
            <a:r>
              <a:rPr sz="1100" dirty="0">
                <a:solidFill>
                  <a:srgbClr val="FF0000"/>
                </a:solidFill>
                <a:latin typeface="Calibri"/>
              </a:rPr>
              <a:t> 41 </a:t>
            </a:r>
            <a:r>
              <a:rPr sz="1100" dirty="0" err="1">
                <a:solidFill>
                  <a:srgbClr val="FF0000"/>
                </a:solidFill>
                <a:latin typeface="Calibri"/>
              </a:rPr>
              <a:t>位後來怎麼了</a:t>
            </a:r>
            <a:endParaRPr sz="1100" dirty="0">
              <a:solidFill>
                <a:srgbClr val="FF0000"/>
              </a:solidFill>
              <a:latin typeface="Calibri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0BA33D8-0AA5-0139-D044-F0199C2162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025" y="1349643"/>
            <a:ext cx="2814514" cy="191652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3D70F3E-F7E2-615A-976C-8E3ED1608EB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4089" y="1371600"/>
            <a:ext cx="2985120" cy="4217687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名詞解釋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三個關鍵概念：Z-score、PCA、FAMD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0F5C8C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611880" cy="365760"/>
          </a:xfrm>
          <a:prstGeom prst="rect">
            <a:avLst/>
          </a:prstGeom>
          <a:solidFill>
            <a:srgbClr val="0F5C8C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545336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Z-score 標準化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1874520"/>
            <a:ext cx="32095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第一步：讓變數可以比較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2331720"/>
            <a:ext cx="3209544" cy="502920"/>
          </a:xfrm>
          <a:prstGeom prst="roundRect">
            <a:avLst>
              <a:gd name="adj" fmla="val 9091"/>
            </a:avLst>
          </a:prstGeom>
          <a:solidFill>
            <a:srgbClr val="F4F7F9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2331720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z = (x − μ) / 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2953512"/>
            <a:ext cx="320954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把不同單位、不同尺度的變數，轉換成統一基準。z值代表「這個數值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距離平均值幾個標準差」。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3749040"/>
            <a:ext cx="3209544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例：白蛋白3.5 g/dL，母體平均4.0、標準差0.3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z = (3.5−4.0)/0.3 = −1.67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這個人的白蛋白比平均低1.67個標準差。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8368" y="4727448"/>
            <a:ext cx="3209544" cy="0"/>
          </a:xfrm>
          <a:prstGeom prst="line">
            <a:avLst/>
          </a:prstGeom>
          <a:noFill/>
          <a:ln w="9525">
            <a:solidFill>
              <a:srgbClr val="E2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4818888"/>
            <a:ext cx="320954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5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為什麼需要：年齡、CEA這些變數尺度差很大，不標準化的話，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5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數值大的變數會不成比例主導後面的距離計算。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70248" y="141732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70248" y="141732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1C8C8C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70248" y="1828800"/>
            <a:ext cx="3611880" cy="365760"/>
          </a:xfrm>
          <a:prstGeom prst="rect">
            <a:avLst/>
          </a:prstGeom>
          <a:solidFill>
            <a:srgbClr val="1C8C8C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71416" y="1545336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PCA 主成分分析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71416" y="1874520"/>
            <a:ext cx="32095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把很多變數濃縮成幾個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71416" y="2331720"/>
            <a:ext cx="3209544" cy="502920"/>
          </a:xfrm>
          <a:prstGeom prst="roundRect">
            <a:avLst>
              <a:gd name="adj" fmla="val 9091"/>
            </a:avLst>
          </a:prstGeom>
          <a:solidFill>
            <a:srgbClr val="F4F7F9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62856" y="2331720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降維：23個特徵 → 5個主成分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71416" y="2953512"/>
            <a:ext cx="320954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把很多彼此相關的變數，濃縮成少數幾個「主成分」，同時盡量保留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原始資料裡的變異(資訊量)。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71416" y="3749040"/>
            <a:ext cx="3209544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比喻：幫一個人拍很多張不同角度的照片，PCA就是找出幾張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最能代表這個人特徵的關鍵角度，捨棄重複、多餘的資訊。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71416" y="4727448"/>
            <a:ext cx="3209544" cy="0"/>
          </a:xfrm>
          <a:prstGeom prst="line">
            <a:avLst/>
          </a:prstGeom>
          <a:noFill/>
          <a:ln w="9525">
            <a:solidFill>
              <a:srgbClr val="E2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71416" y="4818888"/>
            <a:ext cx="320954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C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限制：只能處理連續數值變數，分期、年齡層這種類別變數，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C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要先人工轉成數字才能套用。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83296" y="141732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083296" y="141732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3FBF9F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083296" y="1828800"/>
            <a:ext cx="3611880" cy="365760"/>
          </a:xfrm>
          <a:prstGeom prst="rect">
            <a:avLst/>
          </a:prstGeom>
          <a:solidFill>
            <a:srgbClr val="3FBF9F"/>
          </a:solidFill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84464" y="1545336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FAMD 混合資料分析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84464" y="1874520"/>
            <a:ext cx="32095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PCA的延伸：支援連續+類別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284464" y="2331720"/>
            <a:ext cx="3209544" cy="502920"/>
          </a:xfrm>
          <a:prstGeom prst="roundRect">
            <a:avLst>
              <a:gd name="adj" fmla="val 9091"/>
            </a:avLst>
          </a:prstGeom>
          <a:solidFill>
            <a:srgbClr val="F4F7F9"/>
          </a:solidFill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375904" y="2331720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連續變數走PCA ＋ 類別變數走MCA式編碼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84464" y="2953512"/>
            <a:ext cx="320954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PCA的延伸版本，專門處理「連續變數＋類別變數」混合的資料。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類別變數(如分期、年齡層)保留原始標籤，不用人工轉數字。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84464" y="3749040"/>
            <a:ext cx="3209544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我們的資料：10個連續變數(CEA、白蛋白…)走PCA邏輯，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13個類別變數(分期、年齡層…)保留標籤，一起投影到低維空間。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284464" y="4727448"/>
            <a:ext cx="3209544" cy="0"/>
          </a:xfrm>
          <a:prstGeom prst="line">
            <a:avLst/>
          </a:prstGeom>
          <a:noFill/>
          <a:ln w="9525">
            <a:solidFill>
              <a:srgbClr val="E2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284464" y="4818888"/>
            <a:ext cx="320954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FBF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為什麼採用：避免「類別間數值距離有意義」這種不一定成立的假設，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FBF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統計上更嚴謹，5-fold CV C-index也較高(0.7995 vs 0.7962)。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576072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三者的關係：Z-score 是前處理 → PCA 是純數值降維法 → FAMD 是支援類別變數的延伸版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521440" y="653796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FAMD · 正式採用版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混合資料降維：方法與資料規模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為什麼最終選 FAMD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10512"/>
            <a:ext cx="384048" cy="384048"/>
          </a:xfrm>
          <a:prstGeom prst="ellipse">
            <a:avLst/>
          </a:prstGeom>
          <a:solidFill>
            <a:srgbClr val="0F5C8C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8105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773936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5-fold CV C-index 較高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2066544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0.7995，優於線性PCA版的0.7962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79192"/>
            <a:ext cx="384048" cy="384048"/>
          </a:xfrm>
          <a:prstGeom prst="ellipse">
            <a:avLst/>
          </a:prstGeom>
          <a:solidFill>
            <a:srgbClr val="1C8C8C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6791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642616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類別變數保留真實標籤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2935224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分期、年齡層等不用人工轉數字，避免「類別間距離有意義」的不當假設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547872"/>
            <a:ext cx="384048" cy="384048"/>
          </a:xfrm>
          <a:prstGeom prst="ellipse">
            <a:avLst/>
          </a:prstGeom>
          <a:solidFill>
            <a:srgbClr val="3FBF9F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5478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511296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對無序類別更嚴謹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05840" y="3803904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以指標矩陣／卡方距離編碼，數學上更適合連續+類別混合的臨床資料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14630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4F7F9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0" y="1572768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5C8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12,196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00800" y="2121408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訓練病例數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98280" y="14630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4F7F9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098280" y="1572768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5C8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098280" y="2121408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臨床特徵數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0" y="26974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4F7F9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0" y="2807208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5C8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 + 13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400800" y="3355848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連續 + 類別變數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98280" y="26974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4F7F9"/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098280" y="2807208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5C8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12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098280" y="3355848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Held-out驗證病例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0" y="379476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29400" y="391363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F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FAMD 做法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29400" y="420624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4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10個連續變數（腫瘤大小、CEA等）走PCA邏輯做z-score標準化；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4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13個類別變數（性別、TNM/T/N/M分期、年齡分層、分化程度等）保留真實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4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類別標籤，以指標矩陣編碼後一起投影到低維空間，取前5個主成分。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4F7F9"/>
          </a:solidFill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85800" y="5605272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23個特徵構成：  </a:t>
            </a:r>
            <a:r>
              <a:rPr lang="en-US" sz="10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年齡分層(5組)・性別・BMI・TNM/T/N/M分期・淋巴結摘除數與陽性比率・腫瘤側別／大小／外觀・組織學型態與分化程度・環周侵犯・切除margin・手術根治性與時機・術前CEA／白蛋白／血色素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特徵工程的重要發現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年齡與存活風險：不是線性關係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原本假設：年齡越小、存活率越高（線性關係）。實測結果：不成立。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577840" cy="475488"/>
          </a:xfrm>
          <a:prstGeom prst="roundRect">
            <a:avLst>
              <a:gd name="adj" fmla="val 11538"/>
            </a:avLst>
          </a:prstGeom>
          <a:solidFill>
            <a:srgbClr val="F4F7F9"/>
          </a:solidFill>
          <a:ln w="9525">
            <a:solidFill>
              <a:srgbClr val="E2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91440" cy="475488"/>
          </a:xfrm>
          <a:prstGeom prst="rect">
            <a:avLst/>
          </a:prstGeom>
          <a:solidFill>
            <a:srgbClr val="0B1F3A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&lt;50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1783080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HR = 0.85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37560" y="1783080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= 1,698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0" y="1783080"/>
            <a:ext cx="14173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風險較低（調整後）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350008"/>
            <a:ext cx="55778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2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91440" cy="475488"/>
          </a:xfrm>
          <a:prstGeom prst="rect">
            <a:avLst/>
          </a:prstGeom>
          <a:solidFill>
            <a:srgbClr val="1C8C8C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350008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50-60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37360" y="2350008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8C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基準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37560" y="2350008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= 2,784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2350008"/>
            <a:ext cx="14173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916936"/>
            <a:ext cx="55778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2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916936"/>
            <a:ext cx="91440" cy="475488"/>
          </a:xfrm>
          <a:prstGeom prst="rect">
            <a:avLst/>
          </a:prstGeom>
          <a:solidFill>
            <a:srgbClr val="1C8C8C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2916936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60-70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737360" y="2916936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8C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HR = 0.95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337560" y="2916936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= 3,490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2916936"/>
            <a:ext cx="14173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風險略低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483864"/>
            <a:ext cx="55778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2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3483864"/>
            <a:ext cx="91440" cy="475488"/>
          </a:xfrm>
          <a:prstGeom prst="rect">
            <a:avLst/>
          </a:prstGeom>
          <a:solidFill>
            <a:srgbClr val="C9822A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3483864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70-80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737360" y="3483864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82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HR = 1.38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337560" y="3483864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= 2,673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3483864"/>
            <a:ext cx="14173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82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風險較高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050792"/>
            <a:ext cx="55778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2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" y="4050792"/>
            <a:ext cx="91440" cy="475488"/>
          </a:xfrm>
          <a:prstGeom prst="rect">
            <a:avLst/>
          </a:prstGeom>
          <a:solidFill>
            <a:srgbClr val="B23A3A"/>
          </a:solidFill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5800" y="4050792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80+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737360" y="4050792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23A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HR = 2.31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337560" y="4050792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= 1,551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0" y="4050792"/>
            <a:ext cx="14173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2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風險最高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672584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以50-60為基準，控制其他22個變數（分期、腫瘤特徵等）後的調整風險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55080" y="1737360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實測5年存活率（依年齡層）</a:t>
            </a:r>
            <a:endParaRPr lang="en-US" sz="1250" dirty="0"/>
          </a:p>
        </p:txBody>
      </p:sp>
      <p:graphicFrame>
        <p:nvGraphicFramePr>
          <p:cNvPr id="37" name="Chart 0"/>
          <p:cNvGraphicFramePr/>
          <p:nvPr/>
        </p:nvGraphicFramePr>
        <p:xfrm>
          <a:off x="6263640" y="2057400"/>
          <a:ext cx="54864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8" name="Text 35"/>
          <p:cNvSpPr/>
          <p:nvPr/>
        </p:nvSpPr>
        <p:spPr>
          <a:xfrm>
            <a:off x="6355080" y="4434840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注意：實測5年存活率中，&lt;50歲（74.2%）低於50-60（76.8%）與60-70（76.3%），是因為年輕病人確診時分期較晚（IV期22.0%）；調整分期後，&lt;50歲反而風險最低。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57200" y="489204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85800" y="501091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BF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結論與模型調整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685800" y="5321808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4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調整其他變數後，&lt;50歲的風險並不高（HR 0.85）；70歲後風險陡升，80+約為50-60歲的2.3倍——「年齡越小越好」的線性假設不成立。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685800" y="5687568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4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因此我們把年齡從連續變數改成5分層類別變數，讓FAMD直接學習這個非線性風險結構。5-fold CV C-index從0.7978提升到 </a:t>
            </a:r>
            <a:r>
              <a:rPr lang="en-US" sz="1050" b="1" dirty="0">
                <a:solidFill>
                  <a:srgbClr val="3FBF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0.7995</a:t>
            </a:r>
            <a:r>
              <a:rPr lang="en-US" sz="1050" dirty="0">
                <a:solidFill>
                  <a:srgbClr val="D7E4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。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11521440" y="653796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FAMD · 正式採用版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模型結果與相似病例搜尋邏輯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主成分的臨床意義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773936"/>
            <a:ext cx="146304" cy="146304"/>
          </a:xfrm>
          <a:prstGeom prst="ellipse">
            <a:avLst/>
          </a:prstGeom>
          <a:solidFill>
            <a:srgbClr val="0F5C8C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682496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PC1（11.2%貢獻）· 腫瘤負擔＋根治性軸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3232" y="1956816"/>
            <a:ext cx="5394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TNM總分期、M分期、根治性切除、N分期、淋巴結比率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432304"/>
            <a:ext cx="146304" cy="146304"/>
          </a:xfrm>
          <a:prstGeom prst="ellipse">
            <a:avLst/>
          </a:prstGeom>
          <a:solidFill>
            <a:srgbClr val="1C8C8C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2340864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PC2 · 分期細節＋侵犯＋營養軸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13232" y="2615184"/>
            <a:ext cx="5394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TNM總分期、T分期、環周侵犯、血色素、白蛋白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90672"/>
            <a:ext cx="146304" cy="146304"/>
          </a:xfrm>
          <a:prstGeom prst="ellipse">
            <a:avLst/>
          </a:prstGeom>
          <a:solidFill>
            <a:srgbClr val="3FBF9F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99923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PC3 · 分期細節＋側別＋margin軸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13232" y="3273552"/>
            <a:ext cx="5394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TNM總分期、N分期、腫瘤側別、切除margin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703320"/>
            <a:ext cx="5577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＊年齡分層在PC1-3的貢獻度不高（無監督降維不知道存活結果），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但在下方Cox模型裡已是排名前段的顯著預後因子，兩者是不同的事。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F4F7F9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443484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5C8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0.801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" y="493776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訓練集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68880" y="443484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FBF9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0.7995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468880" y="493776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5-fold CV（採用）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97680" y="443484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5C8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0.703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297680" y="493776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Held-out 12例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0" y="1371600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相似病例搜尋：自適應 K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00800" y="1700784"/>
            <a:ext cx="5303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以0.5 SD標準化半徑起搜，累積死亡事件數未達20則自動擴大範圍（人數上下限30～300）；若擴到上限仍不足，回傳 low_confidence，前端明確標示「相似病例過少，僅供參考」。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2359152"/>
            <a:ext cx="5303520" cy="3520440"/>
          </a:xfrm>
          <a:prstGeom prst="roundRect">
            <a:avLst>
              <a:gd name="adj" fmla="val 2078"/>
            </a:avLst>
          </a:prstGeom>
          <a:solidFill>
            <a:srgbClr val="0B1F3A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29400" y="2505456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Query 實測結果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629400" y="283464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FC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68歲男性・第二期・T2N0M0・右側大腸・中分化腺癌・根治性擇期手術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629400" y="331927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FBF9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K=106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629400" y="3776472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FC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收案人數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098280" y="331927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FBF9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20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098280" y="3776472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FC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累積事件數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29400" y="4187952"/>
            <a:ext cx="4846320" cy="0"/>
          </a:xfrm>
          <a:prstGeom prst="line">
            <a:avLst/>
          </a:prstGeom>
          <a:noFill/>
          <a:ln w="12700">
            <a:solidFill>
              <a:srgbClr val="2E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629400" y="431596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FC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追蹤年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909560" y="431596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F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相似族群OS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738360" y="431596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FC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全體病患OS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29400" y="460857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4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1年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909560" y="460857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FBF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96.2%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738360" y="460857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FC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93.0%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29400" y="490118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4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3年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909560" y="4901184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FBF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94.3%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738360" y="4901184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FC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79.2%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629400" y="519379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4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5年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909560" y="519379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FBF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89.5%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738360" y="519379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FC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69.8%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29400" y="548640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4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10年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909560" y="54864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FBF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76.4%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738360" y="54864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FC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56.3%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521440" y="653796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ea typeface="Calibri"/>
              </a:rPr>
              <a:t>VALIDATION DESIGN  ·  HOW WE CHOSE THE TEST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ea typeface="Cambria"/>
              </a:rPr>
              <a:t>我們怎麼證明「撈出來的人是真的像」？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89888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ea typeface="PingFang TC"/>
              </a:rPr>
              <a:t>「像不像」沒有客觀真值，所以我們請醫師先出題——由他定義什麼叫像，我們才作答。檢驗的是：模型算出來的「近」，是不是臨床上真實的「像」。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6428232"/>
            <a:ext cx="615391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1">
                <a:ea typeface="PingFang TC"/>
              </a:rPr>
              <a:t>PROJECT CRC-ORACLE  ·  REAL-WORLD DATA → PERSONALIZED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11680"/>
            <a:ext cx="2670048" cy="987552"/>
          </a:xfrm>
          <a:prstGeom prst="roundRect">
            <a:avLst>
              <a:gd name="adj" fmla="val 5500"/>
            </a:avLst>
          </a:prstGeom>
          <a:solidFill>
            <a:srgbClr val="0B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2166728"/>
            <a:ext cx="2432303" cy="6893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b="1" dirty="0" err="1">
                <a:solidFill>
                  <a:schemeClr val="bg1"/>
                </a:solidFill>
                <a:ea typeface="PingFang TC"/>
              </a:rPr>
              <a:t>本院癌症登記</a:t>
            </a:r>
            <a:endParaRPr lang="en-US" b="1" dirty="0">
              <a:solidFill>
                <a:schemeClr val="bg1"/>
              </a:solidFill>
              <a:ea typeface="PingFang TC"/>
            </a:endParaRPr>
          </a:p>
          <a:p>
            <a:pPr algn="l">
              <a:lnSpc>
                <a:spcPct val="130000"/>
              </a:lnSpc>
            </a:pPr>
            <a:r>
              <a:rPr b="1" dirty="0">
                <a:solidFill>
                  <a:schemeClr val="bg1"/>
                </a:solidFill>
                <a:ea typeface="PingFang TC"/>
              </a:rPr>
              <a:t> 2007–2023</a:t>
            </a:r>
            <a:r>
              <a:rPr lang="en-US" b="1" dirty="0">
                <a:solidFill>
                  <a:schemeClr val="bg1"/>
                </a:solidFill>
                <a:ea typeface="PingFang TC"/>
              </a:rPr>
              <a:t> (</a:t>
            </a:r>
            <a:r>
              <a:rPr b="1" dirty="0">
                <a:solidFill>
                  <a:schemeClr val="bg1"/>
                </a:solidFill>
                <a:ea typeface="PingFang TC"/>
              </a:rPr>
              <a:t>12,250 </a:t>
            </a:r>
            <a:r>
              <a:rPr b="1" dirty="0" err="1">
                <a:solidFill>
                  <a:schemeClr val="bg1"/>
                </a:solidFill>
                <a:ea typeface="PingFang TC"/>
              </a:rPr>
              <a:t>位</a:t>
            </a:r>
            <a:r>
              <a:rPr lang="en-US" b="1" dirty="0">
                <a:solidFill>
                  <a:schemeClr val="bg1"/>
                </a:solidFill>
                <a:ea typeface="PingFang TC"/>
              </a:rPr>
              <a:t>)</a:t>
            </a:r>
            <a:endParaRPr b="1" dirty="0">
              <a:solidFill>
                <a:schemeClr val="bg1"/>
              </a:solidFill>
              <a:ea typeface="PingFang T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3090672"/>
            <a:ext cx="2670048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ea typeface="PingFang TC"/>
              </a:rPr>
              <a:t>（另剔除追蹤 0 天者 42 筆）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91840" y="2304288"/>
            <a:ext cx="365760" cy="0"/>
          </a:xfrm>
          <a:prstGeom prst="line">
            <a:avLst/>
          </a:prstGeom>
          <a:ln w="25400">
            <a:solidFill>
              <a:srgbClr val="9FB6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40" y="2706624"/>
            <a:ext cx="365760" cy="822960"/>
          </a:xfrm>
          <a:prstGeom prst="line">
            <a:avLst/>
          </a:prstGeom>
          <a:ln w="25400">
            <a:solidFill>
              <a:srgbClr val="9FB6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12463" y="2011680"/>
            <a:ext cx="2395728" cy="987552"/>
          </a:xfrm>
          <a:prstGeom prst="roundRect">
            <a:avLst>
              <a:gd name="adj" fmla="val 5500"/>
            </a:avLst>
          </a:prstGeom>
          <a:solidFill>
            <a:srgbClr val="337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95344" y="2162480"/>
            <a:ext cx="2121412" cy="6127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dirty="0" err="1">
                <a:solidFill>
                  <a:schemeClr val="bg1"/>
                </a:solidFill>
                <a:ea typeface="PingFang TC"/>
              </a:rPr>
              <a:t>抽走</a:t>
            </a:r>
            <a:r>
              <a:rPr sz="1600" b="1" dirty="0">
                <a:solidFill>
                  <a:schemeClr val="bg1"/>
                </a:solidFill>
                <a:ea typeface="PingFang TC"/>
              </a:rPr>
              <a:t> 12 </a:t>
            </a:r>
            <a:r>
              <a:rPr sz="1600" b="1" dirty="0" err="1">
                <a:solidFill>
                  <a:schemeClr val="bg1"/>
                </a:solidFill>
                <a:ea typeface="PingFang TC"/>
              </a:rPr>
              <a:t>位</a:t>
            </a:r>
            <a:r>
              <a:rPr sz="1600" b="1" dirty="0">
                <a:solidFill>
                  <a:schemeClr val="bg1"/>
                </a:solidFill>
                <a:ea typeface="PingFang TC"/>
              </a:rPr>
              <a:t> index case</a:t>
            </a:r>
            <a:r>
              <a:rPr lang="en-US" sz="1600" b="1" dirty="0">
                <a:solidFill>
                  <a:schemeClr val="bg1"/>
                </a:solidFill>
                <a:ea typeface="PingFang TC"/>
              </a:rPr>
              <a:t> </a:t>
            </a:r>
            <a:r>
              <a:rPr sz="1600" b="0" dirty="0" err="1">
                <a:solidFill>
                  <a:schemeClr val="bg1"/>
                </a:solidFill>
                <a:ea typeface="PingFang TC"/>
              </a:rPr>
              <a:t>當「考題」不參與訓練</a:t>
            </a:r>
            <a:endParaRPr sz="1600" b="0" dirty="0">
              <a:solidFill>
                <a:schemeClr val="bg1"/>
              </a:solidFill>
              <a:ea typeface="PingFang TC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712463" y="3145536"/>
            <a:ext cx="2395728" cy="786384"/>
          </a:xfrm>
          <a:prstGeom prst="roundRect">
            <a:avLst>
              <a:gd name="adj" fmla="val 5500"/>
            </a:avLst>
          </a:prstGeom>
          <a:solidFill>
            <a:srgbClr val="F5FAFD"/>
          </a:solidFill>
          <a:ln w="12700">
            <a:solidFill>
              <a:srgbClr val="C6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50207" y="3291840"/>
            <a:ext cx="192024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ea typeface="PingFang TC"/>
              </a:rPr>
              <a:t>其餘 12,196 位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200" b="0">
                <a:ea typeface="PingFang TC"/>
              </a:rPr>
              <a:t>用來訓練模型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63056" y="2505456"/>
            <a:ext cx="146304" cy="0"/>
          </a:xfrm>
          <a:prstGeom prst="line">
            <a:avLst/>
          </a:prstGeom>
          <a:ln w="25400">
            <a:solidFill>
              <a:srgbClr val="9FB6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163056" y="3538728"/>
            <a:ext cx="146304" cy="0"/>
          </a:xfrm>
          <a:prstGeom prst="line">
            <a:avLst/>
          </a:prstGeom>
          <a:ln w="25400">
            <a:solidFill>
              <a:srgbClr val="9FB6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64224" y="2011680"/>
            <a:ext cx="5266944" cy="987552"/>
          </a:xfrm>
          <a:prstGeom prst="roundRect">
            <a:avLst>
              <a:gd name="adj" fmla="val 5500"/>
            </a:avLst>
          </a:prstGeom>
          <a:solidFill>
            <a:srgbClr val="F5FAFD"/>
          </a:solidFill>
          <a:ln w="12700">
            <a:solidFill>
              <a:srgbClr val="C6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01968" y="2157984"/>
            <a:ext cx="479145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ea typeface="PingFang TC"/>
              </a:rPr>
              <a:t>完全不參與任何計算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200" b="0">
                <a:ea typeface="PingFang TC"/>
              </a:rPr>
              <a:t>不算中位數、不做標準化、不進 FAMD 降維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64224" y="3145536"/>
            <a:ext cx="5266944" cy="786384"/>
          </a:xfrm>
          <a:prstGeom prst="roundRect">
            <a:avLst>
              <a:gd name="adj" fmla="val 5500"/>
            </a:avLst>
          </a:prstGeom>
          <a:solidFill>
            <a:srgbClr val="F5FAFD"/>
          </a:solidFill>
          <a:ln w="12700">
            <a:solidFill>
              <a:srgbClr val="C6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01968" y="3291840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ea typeface="PingFang TC"/>
              </a:rPr>
              <a:t>訓練 FAMD 降維空間 · 5 條綜合座標軸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133087"/>
            <a:ext cx="5486400" cy="1097280"/>
          </a:xfrm>
          <a:prstGeom prst="roundRect">
            <a:avLst>
              <a:gd name="adj" fmla="val 5500"/>
            </a:avLst>
          </a:prstGeom>
          <a:solidFill>
            <a:srgbClr val="337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4672" y="4220205"/>
            <a:ext cx="5010912" cy="9328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chemeClr val="bg1"/>
                </a:solidFill>
                <a:ea typeface="PingFang TC"/>
              </a:rPr>
              <a:t>1. </a:t>
            </a:r>
            <a:r>
              <a:rPr sz="1600" b="1" dirty="0" err="1">
                <a:solidFill>
                  <a:schemeClr val="bg1"/>
                </a:solidFill>
                <a:ea typeface="PingFang TC"/>
              </a:rPr>
              <a:t>醫師針對這</a:t>
            </a:r>
            <a:r>
              <a:rPr sz="1600" b="1" dirty="0">
                <a:solidFill>
                  <a:schemeClr val="bg1"/>
                </a:solidFill>
                <a:ea typeface="PingFang TC"/>
              </a:rPr>
              <a:t> 12 </a:t>
            </a:r>
            <a:r>
              <a:rPr sz="1600" b="1" dirty="0" err="1">
                <a:solidFill>
                  <a:schemeClr val="bg1"/>
                </a:solidFill>
                <a:ea typeface="PingFang TC"/>
              </a:rPr>
              <a:t>位，手工挑出約</a:t>
            </a:r>
            <a:r>
              <a:rPr sz="1600" b="1" dirty="0">
                <a:solidFill>
                  <a:schemeClr val="bg1"/>
                </a:solidFill>
                <a:ea typeface="PingFang TC"/>
              </a:rPr>
              <a:t> 12 </a:t>
            </a:r>
            <a:r>
              <a:rPr sz="1600" b="1" dirty="0" err="1">
                <a:solidFill>
                  <a:schemeClr val="bg1"/>
                </a:solidFill>
                <a:ea typeface="PingFang TC"/>
              </a:rPr>
              <a:t>位他認為臨床</a:t>
            </a:r>
            <a:r>
              <a:rPr lang="zh-TW" altLang="en-US" sz="1600" b="1" dirty="0">
                <a:solidFill>
                  <a:schemeClr val="bg1"/>
                </a:solidFill>
                <a:ea typeface="PingFang TC"/>
              </a:rPr>
              <a:t>上</a:t>
            </a:r>
            <a:r>
              <a:rPr sz="1600" b="1" dirty="0" err="1">
                <a:solidFill>
                  <a:schemeClr val="bg1"/>
                </a:solidFill>
                <a:ea typeface="PingFang TC"/>
              </a:rPr>
              <a:t>相似的病人</a:t>
            </a:r>
            <a:r>
              <a:rPr lang="zh-TW" altLang="en-US" sz="1600" b="1" dirty="0">
                <a:solidFill>
                  <a:schemeClr val="bg1"/>
                </a:solidFill>
                <a:ea typeface="PingFang TC"/>
              </a:rPr>
              <a:t>（</a:t>
            </a:r>
            <a:r>
              <a:rPr sz="1600" b="1" dirty="0" err="1">
                <a:solidFill>
                  <a:schemeClr val="bg1"/>
                </a:solidFill>
                <a:ea typeface="PingFang TC"/>
              </a:rPr>
              <a:t>共</a:t>
            </a:r>
            <a:r>
              <a:rPr sz="1600" b="1" dirty="0">
                <a:solidFill>
                  <a:schemeClr val="bg1"/>
                </a:solidFill>
                <a:ea typeface="PingFang TC"/>
              </a:rPr>
              <a:t> 140 </a:t>
            </a:r>
            <a:r>
              <a:rPr sz="1600" b="1" dirty="0" err="1">
                <a:solidFill>
                  <a:schemeClr val="bg1"/>
                </a:solidFill>
                <a:ea typeface="PingFang TC"/>
              </a:rPr>
              <a:t>筆</a:t>
            </a:r>
            <a:r>
              <a:rPr lang="zh-TW" altLang="en-US" sz="1600" b="1" dirty="0">
                <a:solidFill>
                  <a:schemeClr val="bg1"/>
                </a:solidFill>
                <a:ea typeface="PingFang TC"/>
              </a:rPr>
              <a:t>當參考答案）</a:t>
            </a:r>
            <a:endParaRPr lang="en-US" sz="1600" b="1" dirty="0">
              <a:solidFill>
                <a:schemeClr val="bg1"/>
              </a:solidFill>
              <a:ea typeface="PingFang TC"/>
            </a:endParaRPr>
          </a:p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chemeClr val="bg1"/>
                </a:solidFill>
                <a:ea typeface="PingFang TC"/>
              </a:rPr>
              <a:t>2. </a:t>
            </a:r>
            <a:r>
              <a:rPr lang="en-US" sz="1600" b="1" dirty="0" err="1">
                <a:solidFill>
                  <a:schemeClr val="bg1"/>
                </a:solidFill>
                <a:ea typeface="PingFang TC"/>
              </a:rPr>
              <a:t>請醫生</a:t>
            </a:r>
            <a:r>
              <a:rPr sz="1600" b="1" dirty="0" err="1">
                <a:solidFill>
                  <a:schemeClr val="bg1"/>
                </a:solidFill>
                <a:ea typeface="PingFang TC"/>
              </a:rPr>
              <a:t>寫下</a:t>
            </a:r>
            <a:r>
              <a:rPr sz="1600" b="1" dirty="0">
                <a:solidFill>
                  <a:schemeClr val="bg1"/>
                </a:solidFill>
                <a:ea typeface="PingFang TC"/>
              </a:rPr>
              <a:t> 8 </a:t>
            </a:r>
            <a:r>
              <a:rPr sz="1600" b="1" dirty="0" err="1">
                <a:solidFill>
                  <a:schemeClr val="bg1"/>
                </a:solidFill>
                <a:ea typeface="PingFang TC"/>
              </a:rPr>
              <a:t>條挑選規則</a:t>
            </a:r>
            <a:endParaRPr sz="1600" b="1" dirty="0">
              <a:solidFill>
                <a:schemeClr val="bg1"/>
              </a:solidFill>
              <a:ea typeface="PingFang TC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6108192" y="4681728"/>
            <a:ext cx="201168" cy="0"/>
          </a:xfrm>
          <a:prstGeom prst="line">
            <a:avLst/>
          </a:prstGeom>
          <a:ln w="25400">
            <a:solidFill>
              <a:srgbClr val="9FB6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64224" y="4133087"/>
            <a:ext cx="5266944" cy="1097280"/>
          </a:xfrm>
          <a:prstGeom prst="roundRect">
            <a:avLst>
              <a:gd name="adj" fmla="val 5500"/>
            </a:avLst>
          </a:prstGeom>
          <a:solidFill>
            <a:srgbClr val="F5FAFD"/>
          </a:solidFill>
          <a:ln w="12700">
            <a:solidFill>
              <a:srgbClr val="C6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01968" y="4279392"/>
            <a:ext cx="4791456" cy="8046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ea typeface="PingFang TC"/>
              </a:rPr>
              <a:t>驗證一　把 12 位丟進模型，對全體 12,196 位由近到遠排名，看醫師挑的那 140 位各排第幾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150" b="1">
                <a:ea typeface="PingFang TC"/>
              </a:rPr>
              <a:t>驗證二　用那 8 條規則稽核全體檢索結果，對照「隨機抓 100 人」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376672"/>
            <a:ext cx="5486400" cy="914400"/>
          </a:xfrm>
          <a:prstGeom prst="roundRect">
            <a:avLst>
              <a:gd name="adj" fmla="val 5500"/>
            </a:avLst>
          </a:prstGeom>
          <a:solidFill>
            <a:srgbClr val="0B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4672" y="5522976"/>
            <a:ext cx="5010912" cy="6127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TW" sz="1600" b="1" dirty="0">
                <a:solidFill>
                  <a:schemeClr val="bg1"/>
                </a:solidFill>
                <a:ea typeface="PingFang TC"/>
              </a:rPr>
              <a:t>3. </a:t>
            </a:r>
            <a:r>
              <a:rPr lang="zh-TW" altLang="en-US" sz="1600" b="1" dirty="0">
                <a:solidFill>
                  <a:schemeClr val="bg1"/>
                </a:solidFill>
                <a:ea typeface="PingFang TC"/>
              </a:rPr>
              <a:t>額外拿</a:t>
            </a:r>
            <a:r>
              <a:rPr sz="1600" b="1" dirty="0">
                <a:solidFill>
                  <a:schemeClr val="bg1"/>
                </a:solidFill>
                <a:ea typeface="PingFang TC"/>
              </a:rPr>
              <a:t>386 </a:t>
            </a:r>
            <a:r>
              <a:rPr sz="1600" b="1" dirty="0" err="1">
                <a:solidFill>
                  <a:schemeClr val="bg1"/>
                </a:solidFill>
                <a:ea typeface="PingFang TC"/>
              </a:rPr>
              <a:t>位真實新病人</a:t>
            </a:r>
            <a:r>
              <a:rPr lang="zh-TW" altLang="en-US" sz="1600" b="1" dirty="0">
                <a:solidFill>
                  <a:schemeClr val="bg1"/>
                </a:solidFill>
                <a:ea typeface="PingFang TC"/>
              </a:rPr>
              <a:t>來驗證</a:t>
            </a:r>
            <a:endParaRPr lang="en-US" altLang="zh-TW" sz="1600" b="1" dirty="0">
              <a:solidFill>
                <a:schemeClr val="bg1"/>
              </a:solidFill>
              <a:ea typeface="PingFang TC"/>
            </a:endParaRPr>
          </a:p>
          <a:p>
            <a:pPr algn="l">
              <a:lnSpc>
                <a:spcPct val="130000"/>
              </a:lnSpc>
            </a:pPr>
            <a:r>
              <a:rPr sz="1600" b="1" dirty="0">
                <a:solidFill>
                  <a:schemeClr val="bg1"/>
                </a:solidFill>
                <a:ea typeface="PingFang TC"/>
              </a:rPr>
              <a:t>（2024-10 ~ 2025-03）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108192" y="5833872"/>
            <a:ext cx="201168" cy="0"/>
          </a:xfrm>
          <a:prstGeom prst="line">
            <a:avLst/>
          </a:prstGeom>
          <a:ln w="25400">
            <a:solidFill>
              <a:srgbClr val="9FB6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364224" y="5376672"/>
            <a:ext cx="5266944" cy="914400"/>
          </a:xfrm>
          <a:prstGeom prst="roundRect">
            <a:avLst>
              <a:gd name="adj" fmla="val 5500"/>
            </a:avLst>
          </a:prstGeom>
          <a:solidFill>
            <a:srgbClr val="F5FAFD"/>
          </a:solidFill>
          <a:ln w="12700">
            <a:solidFill>
              <a:srgbClr val="C6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01968" y="5522976"/>
            <a:ext cx="4791456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ea typeface="PingFang TC"/>
              </a:rPr>
              <a:t>驗證三　替每一位算出存活率，再對照他們實際的追蹤結果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ea typeface="Calibri"/>
              </a:rPr>
              <a:t>VALIDATION 1  ·  BLINDED PHYSICIAN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3000" b="1" dirty="0" err="1">
                <a:ea typeface="Cambria"/>
              </a:rPr>
              <a:t>驗證一：</a:t>
            </a:r>
            <a:r>
              <a:rPr sz="3000" b="1" dirty="0" err="1">
                <a:ea typeface="Cambria"/>
              </a:rPr>
              <a:t>醫師手挑的「像</a:t>
            </a:r>
            <a:r>
              <a:rPr sz="3000" b="1" dirty="0">
                <a:ea typeface="Cambria"/>
              </a:rPr>
              <a:t>」，</a:t>
            </a:r>
            <a:r>
              <a:rPr sz="3000" b="1" dirty="0" err="1">
                <a:ea typeface="Cambria"/>
              </a:rPr>
              <a:t>落在我們排名的哪裡</a:t>
            </a:r>
            <a:endParaRPr sz="3000" b="1" dirty="0">
              <a:ea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389888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ea typeface="PingFang TC"/>
              </a:rPr>
              <a:t>把 12 位考題病人丟進模型，對全體 12,196 位由近到遠排名，再看醫師手挑的那 140 位各自排在第幾名。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6428232"/>
            <a:ext cx="615391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1">
                <a:ea typeface="PingFang TC"/>
              </a:rPr>
              <a:t>PROJECT CRC-ORACLE  ·  REAL-WORLD DATA → PERSONALIZED EVIDENCE</a:t>
            </a:r>
          </a:p>
        </p:txBody>
      </p:sp>
      <p:pic>
        <p:nvPicPr>
          <p:cNvPr id="6" name="Picture 5" descr="final_fig1_命中地圖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92" y="1700784"/>
            <a:ext cx="6772538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44858" y="1901952"/>
            <a:ext cx="3895454" cy="1426464"/>
          </a:xfrm>
          <a:prstGeom prst="roundRect">
            <a:avLst>
              <a:gd name="adj" fmla="val 5500"/>
            </a:avLst>
          </a:prstGeom>
          <a:solidFill>
            <a:srgbClr val="F5FAFD"/>
          </a:solidFill>
          <a:ln w="12700">
            <a:solidFill>
              <a:srgbClr val="C6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43162" y="2011679"/>
            <a:ext cx="3450262" cy="12375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dirty="0" err="1">
                <a:ea typeface="PingFang TC"/>
              </a:rPr>
              <a:t>怎麼看這張圖</a:t>
            </a:r>
            <a:endParaRPr sz="1050" b="1" dirty="0">
              <a:ea typeface="PingFang TC"/>
            </a:endParaRP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050" b="0" dirty="0" err="1">
                <a:ea typeface="PingFang TC"/>
              </a:rPr>
              <a:t>每一格是一位考題病人，圓心就是他本人（紅星</a:t>
            </a:r>
            <a:r>
              <a:rPr sz="1050" b="0" dirty="0">
                <a:ea typeface="PingFang TC"/>
              </a:rPr>
              <a:t>）。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050" b="0" dirty="0" err="1">
                <a:ea typeface="PingFang TC"/>
              </a:rPr>
              <a:t>藍點＝我們排名的前</a:t>
            </a:r>
            <a:r>
              <a:rPr sz="1050" b="0" dirty="0">
                <a:ea typeface="PingFang TC"/>
              </a:rPr>
              <a:t> 200 </a:t>
            </a:r>
            <a:r>
              <a:rPr sz="1050" b="0" dirty="0" err="1">
                <a:ea typeface="PingFang TC"/>
              </a:rPr>
              <a:t>名</a:t>
            </a:r>
            <a:r>
              <a:rPr sz="1050" b="0" dirty="0">
                <a:ea typeface="PingFang TC"/>
              </a:rPr>
              <a:t>；</a:t>
            </a:r>
            <a:endParaRPr lang="en-US" sz="1050" b="0" dirty="0">
              <a:ea typeface="PingFang TC"/>
            </a:endParaRP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050" b="0" dirty="0" err="1">
                <a:ea typeface="PingFang TC"/>
              </a:rPr>
              <a:t>橘實心＝醫師挑的且落在前</a:t>
            </a:r>
            <a:r>
              <a:rPr sz="1050" b="0" dirty="0">
                <a:ea typeface="PingFang TC"/>
              </a:rPr>
              <a:t> 200；</a:t>
            </a:r>
            <a:endParaRPr lang="en-US" sz="1050" b="0" dirty="0">
              <a:ea typeface="PingFang TC"/>
            </a:endParaRP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050" b="0" dirty="0" err="1">
                <a:ea typeface="PingFang TC"/>
              </a:rPr>
              <a:t>橘空心＝醫師挑了、但沒進前</a:t>
            </a:r>
            <a:r>
              <a:rPr sz="1050" b="0" dirty="0">
                <a:ea typeface="PingFang TC"/>
              </a:rPr>
              <a:t> 200。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44858" y="3395501"/>
            <a:ext cx="3886310" cy="1005839"/>
          </a:xfrm>
          <a:prstGeom prst="roundRect">
            <a:avLst>
              <a:gd name="adj" fmla="val 5500"/>
            </a:avLst>
          </a:prstGeom>
          <a:solidFill>
            <a:srgbClr val="F5FAFD"/>
          </a:solidFill>
          <a:ln w="12700">
            <a:solidFill>
              <a:srgbClr val="C6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43162" y="3474720"/>
            <a:ext cx="2834640" cy="1005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dirty="0" err="1">
                <a:ea typeface="PingFang TC"/>
              </a:rPr>
              <a:t>結果</a:t>
            </a:r>
            <a:endParaRPr sz="1100" b="1" dirty="0">
              <a:ea typeface="PingFang TC"/>
            </a:endParaRP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100" b="0" dirty="0">
                <a:ea typeface="PingFang TC"/>
              </a:rPr>
              <a:t>140 </a:t>
            </a:r>
            <a:r>
              <a:rPr sz="1100" b="0" dirty="0" err="1">
                <a:ea typeface="PingFang TC"/>
              </a:rPr>
              <a:t>位中有</a:t>
            </a:r>
            <a:r>
              <a:rPr sz="1100" b="0" dirty="0">
                <a:ea typeface="PingFang TC"/>
              </a:rPr>
              <a:t> </a:t>
            </a:r>
            <a:r>
              <a:rPr sz="1100" b="1" dirty="0">
                <a:ea typeface="PingFang TC"/>
              </a:rPr>
              <a:t>43 </a:t>
            </a:r>
            <a:r>
              <a:rPr sz="1100" b="1" dirty="0" err="1">
                <a:ea typeface="PingFang TC"/>
              </a:rPr>
              <a:t>位</a:t>
            </a:r>
            <a:r>
              <a:rPr sz="1100" b="0" dirty="0" err="1">
                <a:ea typeface="PingFang TC"/>
              </a:rPr>
              <a:t>落在前</a:t>
            </a:r>
            <a:r>
              <a:rPr sz="1100" b="0" dirty="0">
                <a:ea typeface="PingFang TC"/>
              </a:rPr>
              <a:t> 200 名（</a:t>
            </a:r>
            <a:r>
              <a:rPr sz="1100" b="1" dirty="0">
                <a:ea typeface="PingFang TC"/>
              </a:rPr>
              <a:t>30.7%</a:t>
            </a:r>
            <a:r>
              <a:rPr sz="1100" b="0" dirty="0">
                <a:ea typeface="PingFang TC"/>
              </a:rPr>
              <a:t>）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100" b="0" dirty="0" err="1">
                <a:ea typeface="PingFang TC"/>
              </a:rPr>
              <a:t>亂數排序只會中</a:t>
            </a:r>
            <a:r>
              <a:rPr sz="1100" b="0" dirty="0">
                <a:ea typeface="PingFang TC"/>
              </a:rPr>
              <a:t> 2.3 </a:t>
            </a:r>
            <a:r>
              <a:rPr sz="1100" b="0" dirty="0" err="1">
                <a:ea typeface="PingFang TC"/>
              </a:rPr>
              <a:t>位</a:t>
            </a:r>
            <a:r>
              <a:rPr sz="1100" b="0" dirty="0">
                <a:ea typeface="PingFang TC"/>
              </a:rPr>
              <a:t>——</a:t>
            </a:r>
            <a:r>
              <a:rPr sz="1100" b="0" dirty="0" err="1">
                <a:ea typeface="PingFang TC"/>
              </a:rPr>
              <a:t>我們是它的</a:t>
            </a:r>
            <a:r>
              <a:rPr sz="1100" b="0" dirty="0">
                <a:ea typeface="PingFang TC"/>
              </a:rPr>
              <a:t> </a:t>
            </a:r>
            <a:r>
              <a:rPr sz="1100" b="1" dirty="0">
                <a:ea typeface="PingFang TC"/>
              </a:rPr>
              <a:t>19 </a:t>
            </a:r>
            <a:r>
              <a:rPr sz="1100" b="1" dirty="0" err="1">
                <a:ea typeface="PingFang TC"/>
              </a:rPr>
              <a:t>倍</a:t>
            </a:r>
            <a:endParaRPr sz="1100" b="1" dirty="0">
              <a:ea typeface="PingFang TC"/>
            </a:endParaRPr>
          </a:p>
        </p:txBody>
      </p:sp>
      <p:pic>
        <p:nvPicPr>
          <p:cNvPr id="13" name="Picture 5" descr="overlap_甕圖.png">
            <a:extLst>
              <a:ext uri="{FF2B5EF4-FFF2-40B4-BE49-F238E27FC236}">
                <a16:creationId xmlns:a16="http://schemas.microsoft.com/office/drawing/2014/main" id="{79C4CE70-4E28-AEBC-A9D0-8AC194D8DF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687" y="1754152"/>
            <a:ext cx="6841547" cy="4427191"/>
          </a:xfrm>
          <a:prstGeom prst="rect">
            <a:avLst/>
          </a:prstGeom>
        </p:spPr>
      </p:pic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C6E1AF7F-A278-15EC-76A6-C9E446D29321}"/>
              </a:ext>
            </a:extLst>
          </p:cNvPr>
          <p:cNvSpPr/>
          <p:nvPr/>
        </p:nvSpPr>
        <p:spPr>
          <a:xfrm>
            <a:off x="7744859" y="4529357"/>
            <a:ext cx="3886310" cy="1651985"/>
          </a:xfrm>
          <a:prstGeom prst="roundRect">
            <a:avLst>
              <a:gd name="adj" fmla="val 5500"/>
            </a:avLst>
          </a:prstGeom>
          <a:solidFill>
            <a:srgbClr val="F5FAFD"/>
          </a:solidFill>
          <a:ln w="12700">
            <a:solidFill>
              <a:srgbClr val="C6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C2B33DAD-29AE-66CB-5329-A8B30B5EDB79}"/>
              </a:ext>
            </a:extLst>
          </p:cNvPr>
          <p:cNvSpPr txBox="1"/>
          <p:nvPr/>
        </p:nvSpPr>
        <p:spPr>
          <a:xfrm>
            <a:off x="7982603" y="4675662"/>
            <a:ext cx="3410821" cy="134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dirty="0" err="1">
                <a:ea typeface="PingFang TC"/>
              </a:rPr>
              <a:t>重疊的上限是多少</a:t>
            </a:r>
            <a:endParaRPr sz="1050" b="1" dirty="0">
              <a:ea typeface="PingFang TC"/>
            </a:endParaRP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050" b="0" dirty="0" err="1">
                <a:ea typeface="PingFang TC"/>
              </a:rPr>
              <a:t>一位典型病人在資料庫裡「臨床上說得過去」的候選人中位數是</a:t>
            </a:r>
            <a:r>
              <a:rPr sz="1050" b="0" dirty="0">
                <a:ea typeface="PingFang TC"/>
              </a:rPr>
              <a:t> </a:t>
            </a:r>
            <a:r>
              <a:rPr sz="1050" b="1" dirty="0">
                <a:ea typeface="PingFang TC"/>
              </a:rPr>
              <a:t>562 </a:t>
            </a:r>
            <a:r>
              <a:rPr sz="1050" b="1" dirty="0" err="1">
                <a:ea typeface="PingFang TC"/>
              </a:rPr>
              <a:t>位</a:t>
            </a:r>
            <a:r>
              <a:rPr sz="1050" b="0" dirty="0" err="1">
                <a:ea typeface="PingFang TC"/>
              </a:rPr>
              <a:t>（性別、期別、側別相同，分化不互跨，第四期再加轉移部位</a:t>
            </a:r>
            <a:r>
              <a:rPr sz="1050" b="0" dirty="0">
                <a:ea typeface="PingFang TC"/>
              </a:rPr>
              <a:t>）。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050" b="0" dirty="0" err="1">
                <a:ea typeface="PingFang TC"/>
              </a:rPr>
              <a:t>我們列前</a:t>
            </a:r>
            <a:r>
              <a:rPr sz="1050" b="0" dirty="0">
                <a:ea typeface="PingFang TC"/>
              </a:rPr>
              <a:t> 200 </a:t>
            </a:r>
            <a:r>
              <a:rPr sz="1050" b="0" dirty="0" err="1">
                <a:ea typeface="PingFang TC"/>
              </a:rPr>
              <a:t>名</a:t>
            </a:r>
            <a:r>
              <a:rPr sz="1050" b="0" dirty="0">
                <a:ea typeface="PingFang TC"/>
              </a:rPr>
              <a:t> → 200÷562 ≈ </a:t>
            </a:r>
            <a:r>
              <a:rPr sz="1050" b="1" dirty="0">
                <a:ea typeface="PingFang TC"/>
              </a:rPr>
              <a:t>36%</a:t>
            </a:r>
            <a:r>
              <a:rPr sz="1050" b="0" dirty="0">
                <a:ea typeface="PingFang TC"/>
              </a:rPr>
              <a:t> </a:t>
            </a:r>
            <a:r>
              <a:rPr sz="1050" b="0" dirty="0" err="1">
                <a:ea typeface="PingFang TC"/>
              </a:rPr>
              <a:t>就是重疊上限。實測</a:t>
            </a:r>
            <a:r>
              <a:rPr sz="1050" b="0" dirty="0">
                <a:ea typeface="PingFang TC"/>
              </a:rPr>
              <a:t> </a:t>
            </a:r>
            <a:r>
              <a:rPr sz="1050" b="1" dirty="0">
                <a:ea typeface="PingFang TC"/>
              </a:rPr>
              <a:t>30.7%</a:t>
            </a:r>
            <a:r>
              <a:rPr sz="1050" b="0" dirty="0">
                <a:ea typeface="PingFang TC"/>
              </a:rPr>
              <a:t>，</a:t>
            </a:r>
            <a:r>
              <a:rPr sz="1050" b="0" dirty="0" err="1">
                <a:ea typeface="PingFang TC"/>
              </a:rPr>
              <a:t>是上限的</a:t>
            </a:r>
            <a:r>
              <a:rPr sz="1050" b="0" dirty="0">
                <a:ea typeface="PingFang TC"/>
              </a:rPr>
              <a:t> </a:t>
            </a:r>
            <a:r>
              <a:rPr sz="1050" b="1" dirty="0">
                <a:ea typeface="PingFang TC"/>
              </a:rPr>
              <a:t>86%</a:t>
            </a:r>
            <a:r>
              <a:rPr sz="1050" b="0" dirty="0">
                <a:ea typeface="PingFang TC"/>
              </a:rPr>
              <a:t>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ea typeface="Calibri"/>
              </a:rPr>
              <a:t>VALIDATION 2  ·  HOW THE AUDIT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dirty="0" err="1">
                <a:ea typeface="Cambria"/>
              </a:rPr>
              <a:t>驗證二</a:t>
            </a:r>
            <a:r>
              <a:rPr lang="zh-TW" altLang="en-US" sz="3000" b="1" dirty="0">
                <a:ea typeface="Cambria"/>
              </a:rPr>
              <a:t>：用醫生的</a:t>
            </a:r>
            <a:r>
              <a:rPr lang="en-US" altLang="zh-TW" sz="3000" b="1" dirty="0">
                <a:ea typeface="Cambria"/>
              </a:rPr>
              <a:t>8</a:t>
            </a:r>
            <a:r>
              <a:rPr lang="zh-TW" altLang="en-US" sz="3000" b="1" dirty="0">
                <a:ea typeface="Cambria"/>
              </a:rPr>
              <a:t>條篩選標準來看</a:t>
            </a:r>
            <a:endParaRPr sz="3000" b="1" dirty="0">
              <a:ea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389888"/>
            <a:ext cx="11064240" cy="2453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dirty="0" err="1">
                <a:ea typeface="PingFang TC"/>
              </a:rPr>
              <a:t>驗證一只驗了</a:t>
            </a:r>
            <a:r>
              <a:rPr sz="1300" b="0" dirty="0">
                <a:ea typeface="PingFang TC"/>
              </a:rPr>
              <a:t> 12 </a:t>
            </a:r>
            <a:r>
              <a:rPr sz="1300" b="0" dirty="0" err="1">
                <a:ea typeface="PingFang TC"/>
              </a:rPr>
              <a:t>位病人。驗證二改用醫師寫下的</a:t>
            </a:r>
            <a:r>
              <a:rPr sz="1300" b="0" dirty="0">
                <a:ea typeface="PingFang TC"/>
              </a:rPr>
              <a:t> 8 </a:t>
            </a:r>
            <a:r>
              <a:rPr sz="1300" b="0" dirty="0" err="1">
                <a:ea typeface="PingFang TC"/>
              </a:rPr>
              <a:t>條規則，去檢查我們替</a:t>
            </a:r>
            <a:r>
              <a:rPr sz="1300" b="1" dirty="0" err="1">
                <a:ea typeface="PingFang TC"/>
              </a:rPr>
              <a:t>每一位</a:t>
            </a:r>
            <a:r>
              <a:rPr sz="1300" b="0" dirty="0" err="1">
                <a:ea typeface="PingFang TC"/>
              </a:rPr>
              <a:t>病人撈出來的</a:t>
            </a:r>
            <a:r>
              <a:rPr lang="en-US" sz="1300" dirty="0" err="1">
                <a:ea typeface="PingFang TC"/>
              </a:rPr>
              <a:t>相像的</a:t>
            </a:r>
            <a:r>
              <a:rPr sz="1300" b="0" dirty="0" err="1">
                <a:ea typeface="PingFang TC"/>
              </a:rPr>
              <a:t>那一群</a:t>
            </a:r>
            <a:endParaRPr sz="1300" b="0" dirty="0">
              <a:ea typeface="PingFang T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0" y="6428232"/>
            <a:ext cx="615391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1">
                <a:ea typeface="PingFang TC"/>
              </a:rPr>
              <a:t>PROJECT CRC-ORACLE  ·  REAL-WORLD DATA → PERSONALIZED EVIDENCE</a:t>
            </a:r>
          </a:p>
        </p:txBody>
      </p:sp>
      <p:pic>
        <p:nvPicPr>
          <p:cNvPr id="6" name="Picture 5" descr="rule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65376"/>
            <a:ext cx="8565453" cy="31272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5266944"/>
            <a:ext cx="5486400" cy="1060704"/>
          </a:xfrm>
          <a:prstGeom prst="roundRect">
            <a:avLst>
              <a:gd name="adj" fmla="val 5500"/>
            </a:avLst>
          </a:prstGeom>
          <a:solidFill>
            <a:srgbClr val="F5FAFD"/>
          </a:solidFill>
          <a:ln w="12700">
            <a:solidFill>
              <a:srgbClr val="C6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5413248"/>
            <a:ext cx="5010912" cy="6635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TW" altLang="en-US" sz="1050" b="1" dirty="0">
                <a:ea typeface="PingFang TC"/>
              </a:rPr>
              <a:t>如何決定</a:t>
            </a:r>
            <a:r>
              <a:rPr sz="1050" b="1" dirty="0" err="1">
                <a:ea typeface="PingFang TC"/>
              </a:rPr>
              <a:t>撈幾個人</a:t>
            </a:r>
            <a:endParaRPr sz="1050" b="1" dirty="0">
              <a:ea typeface="PingFang TC"/>
            </a:endParaRP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050" b="0" dirty="0" err="1">
                <a:ea typeface="PingFang TC"/>
              </a:rPr>
              <a:t>由近而遠一直撈，</a:t>
            </a:r>
            <a:r>
              <a:rPr sz="1050" b="1" dirty="0" err="1">
                <a:ea typeface="PingFang TC"/>
              </a:rPr>
              <a:t>撈到</a:t>
            </a:r>
            <a:r>
              <a:rPr sz="1050" b="1" dirty="0">
                <a:ea typeface="PingFang TC"/>
              </a:rPr>
              <a:t> 20 </a:t>
            </a:r>
            <a:r>
              <a:rPr sz="1050" b="1" dirty="0" err="1">
                <a:ea typeface="PingFang TC"/>
              </a:rPr>
              <a:t>位已過世才停</a:t>
            </a:r>
            <a:r>
              <a:rPr sz="1050" b="0" dirty="0" err="1">
                <a:ea typeface="PingFang TC"/>
              </a:rPr>
              <a:t>（人數限</a:t>
            </a:r>
            <a:r>
              <a:rPr sz="1050" b="0" dirty="0">
                <a:ea typeface="PingFang TC"/>
              </a:rPr>
              <a:t> 30–300）。</a:t>
            </a:r>
            <a:r>
              <a:rPr sz="1050" b="0" dirty="0" err="1">
                <a:ea typeface="PingFang TC"/>
              </a:rPr>
              <a:t>這位病人最近的</a:t>
            </a:r>
            <a:r>
              <a:rPr sz="1050" b="0" dirty="0">
                <a:ea typeface="PingFang TC"/>
              </a:rPr>
              <a:t> 30 </a:t>
            </a:r>
            <a:r>
              <a:rPr sz="1050" b="0" dirty="0" err="1">
                <a:ea typeface="PingFang TC"/>
              </a:rPr>
              <a:t>位裡就有</a:t>
            </a:r>
            <a:r>
              <a:rPr sz="1050" b="0" dirty="0">
                <a:ea typeface="PingFang TC"/>
              </a:rPr>
              <a:t> 24 </a:t>
            </a:r>
            <a:r>
              <a:rPr sz="1050" b="0" dirty="0" err="1">
                <a:ea typeface="PingFang TC"/>
              </a:rPr>
              <a:t>位過世，所以停</a:t>
            </a:r>
            <a:r>
              <a:rPr lang="zh-TW" altLang="en-US" sz="1050" b="0" dirty="0">
                <a:ea typeface="PingFang TC"/>
              </a:rPr>
              <a:t>在這裡。</a:t>
            </a:r>
            <a:endParaRPr sz="1050" b="0" dirty="0">
              <a:ea typeface="PingFang T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44768" y="5266944"/>
            <a:ext cx="5486400" cy="1060704"/>
          </a:xfrm>
          <a:prstGeom prst="roundRect">
            <a:avLst>
              <a:gd name="adj" fmla="val 5500"/>
            </a:avLst>
          </a:prstGeom>
          <a:solidFill>
            <a:srgbClr val="F5FAFD"/>
          </a:solidFill>
          <a:ln w="12700">
            <a:solidFill>
              <a:srgbClr val="C6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5413248"/>
            <a:ext cx="5010912" cy="7680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ea typeface="PingFang TC"/>
              </a:rPr>
              <a:t>對照組：隨機抓 100 人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100" b="0">
                <a:ea typeface="PingFang TC"/>
              </a:rPr>
              <a:t>同一條期別規則，隨機只有 </a:t>
            </a:r>
            <a:r>
              <a:rPr sz="1100" b="1">
                <a:ea typeface="PingFang TC"/>
              </a:rPr>
              <a:t>11%</a:t>
            </a:r>
            <a:r>
              <a:rPr sz="1100" b="0">
                <a:ea typeface="PingFang TC"/>
              </a:rPr>
              <a:t> 符合——</a:t>
            </a:r>
            <a:r>
              <a:rPr sz="1100" b="1">
                <a:ea typeface="PingFang TC"/>
              </a:rPr>
              <a:t>系統沒有被告知要找同期別的人，是它自己學出來的</a:t>
            </a:r>
            <a:r>
              <a:rPr sz="1100" b="0">
                <a:ea typeface="PingFang TC"/>
              </a:rPr>
              <a:t>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9CC64-3483-29AF-4C05-A30EB2F7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13CC76-A09F-92F5-76A9-CAEBD3ED8E36}"/>
              </a:ext>
            </a:extLst>
          </p:cNvPr>
          <p:cNvSpPr txBox="1"/>
          <p:nvPr/>
        </p:nvSpPr>
        <p:spPr>
          <a:xfrm>
            <a:off x="566928" y="36576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ea typeface="Calibri"/>
              </a:rPr>
              <a:t>VALIDATION 2  ·  HOW THE AUDIT WORKS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9A6D19-B1F3-17FC-B9A9-D29DC30618D2}"/>
              </a:ext>
            </a:extLst>
          </p:cNvPr>
          <p:cNvSpPr txBox="1"/>
          <p:nvPr/>
        </p:nvSpPr>
        <p:spPr>
          <a:xfrm>
            <a:off x="566928" y="676656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dirty="0" err="1">
                <a:ea typeface="Cambria"/>
              </a:rPr>
              <a:t>驗證二</a:t>
            </a:r>
            <a:r>
              <a:rPr lang="zh-TW" altLang="en-US" sz="3000" b="1" dirty="0">
                <a:ea typeface="Cambria"/>
              </a:rPr>
              <a:t>：用醫生的</a:t>
            </a:r>
            <a:r>
              <a:rPr lang="en-US" altLang="zh-TW" sz="3000" b="1" dirty="0">
                <a:ea typeface="Cambria"/>
              </a:rPr>
              <a:t>8</a:t>
            </a:r>
            <a:r>
              <a:rPr lang="zh-TW" altLang="en-US" sz="3000" b="1" dirty="0">
                <a:ea typeface="Cambria"/>
              </a:rPr>
              <a:t>條篩選標準來看</a:t>
            </a:r>
            <a:endParaRPr sz="3000" b="1" dirty="0">
              <a:ea typeface="Cambri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C7EEA3-91A2-05DB-C98A-F39D12B1B283}"/>
              </a:ext>
            </a:extLst>
          </p:cNvPr>
          <p:cNvSpPr txBox="1"/>
          <p:nvPr/>
        </p:nvSpPr>
        <p:spPr>
          <a:xfrm>
            <a:off x="5486400" y="6428232"/>
            <a:ext cx="615391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1">
                <a:ea typeface="PingFang TC"/>
              </a:rPr>
              <a:t>PROJECT CRC-ORACLE  ·  REAL-WORLD DATA → PERSONALIZED EVIDENCE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F5AA02DD-4195-E1B2-CC96-A3650133B97C}"/>
              </a:ext>
            </a:extLst>
          </p:cNvPr>
          <p:cNvSpPr txBox="1"/>
          <p:nvPr/>
        </p:nvSpPr>
        <p:spPr>
          <a:xfrm>
            <a:off x="566928" y="1389888"/>
            <a:ext cx="11064240" cy="2453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dirty="0" err="1">
                <a:ea typeface="PingFang TC"/>
              </a:rPr>
              <a:t>我們用這</a:t>
            </a:r>
            <a:r>
              <a:rPr sz="1300" b="0" dirty="0">
                <a:ea typeface="PingFang TC"/>
              </a:rPr>
              <a:t> 8 </a:t>
            </a:r>
            <a:r>
              <a:rPr sz="1300" b="0" dirty="0" err="1">
                <a:ea typeface="PingFang TC"/>
              </a:rPr>
              <a:t>條稽核全體</a:t>
            </a:r>
            <a:r>
              <a:rPr sz="1300" b="0" dirty="0">
                <a:ea typeface="PingFang TC"/>
              </a:rPr>
              <a:t> 12,196 </a:t>
            </a:r>
            <a:r>
              <a:rPr sz="1300" b="0" dirty="0" err="1">
                <a:ea typeface="PingFang TC"/>
              </a:rPr>
              <a:t>位的檢索結果，對照「隨機抓</a:t>
            </a:r>
            <a:r>
              <a:rPr sz="1300" b="0" dirty="0">
                <a:ea typeface="PingFang TC"/>
              </a:rPr>
              <a:t> 100 </a:t>
            </a:r>
            <a:r>
              <a:rPr sz="1300" b="0" dirty="0" err="1">
                <a:ea typeface="PingFang TC"/>
              </a:rPr>
              <a:t>人」看到底贏多少</a:t>
            </a:r>
            <a:r>
              <a:rPr sz="1300" b="0" dirty="0">
                <a:ea typeface="PingFang TC"/>
              </a:rPr>
              <a:t>。</a:t>
            </a:r>
          </a:p>
        </p:txBody>
      </p:sp>
      <p:pic>
        <p:nvPicPr>
          <p:cNvPr id="12" name="Picture 5" descr="final_fig3_八條規則.png">
            <a:extLst>
              <a:ext uri="{FF2B5EF4-FFF2-40B4-BE49-F238E27FC236}">
                <a16:creationId xmlns:a16="http://schemas.microsoft.com/office/drawing/2014/main" id="{E2B8CB42-2395-CF51-8716-749DA7266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24" y="1874519"/>
            <a:ext cx="6524111" cy="3703320"/>
          </a:xfrm>
          <a:prstGeom prst="rect">
            <a:avLst/>
          </a:prstGeom>
        </p:spPr>
      </p:pic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AE5AEBB1-BCD0-0375-C037-00682645D4B2}"/>
              </a:ext>
            </a:extLst>
          </p:cNvPr>
          <p:cNvSpPr/>
          <p:nvPr/>
        </p:nvSpPr>
        <p:spPr>
          <a:xfrm>
            <a:off x="7635240" y="1874519"/>
            <a:ext cx="3995928" cy="1773936"/>
          </a:xfrm>
          <a:prstGeom prst="roundRect">
            <a:avLst>
              <a:gd name="adj" fmla="val 5500"/>
            </a:avLst>
          </a:prstGeom>
          <a:solidFill>
            <a:srgbClr val="ECF7F2"/>
          </a:solidFill>
          <a:ln w="12700">
            <a:solidFill>
              <a:srgbClr val="2F9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0C15D784-C5BE-2218-75C3-F09EF86B8915}"/>
              </a:ext>
            </a:extLst>
          </p:cNvPr>
          <p:cNvSpPr txBox="1"/>
          <p:nvPr/>
        </p:nvSpPr>
        <p:spPr>
          <a:xfrm>
            <a:off x="7872983" y="2020824"/>
            <a:ext cx="3520440" cy="128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TW" altLang="en-US" sz="1150" b="1" dirty="0">
                <a:ea typeface="PingFang TC"/>
              </a:rPr>
              <a:t>與醫生標準相符合的</a:t>
            </a:r>
            <a:endParaRPr lang="en-US" altLang="zh-TW" sz="1150" b="1" dirty="0">
              <a:ea typeface="PingFang TC"/>
            </a:endParaRPr>
          </a:p>
          <a:p>
            <a:pPr algn="l">
              <a:lnSpc>
                <a:spcPct val="130000"/>
              </a:lnSpc>
            </a:pPr>
            <a:r>
              <a:rPr sz="1150" b="0" dirty="0" err="1">
                <a:ea typeface="PingFang TC"/>
              </a:rPr>
              <a:t>期別相同</a:t>
            </a:r>
            <a:r>
              <a:rPr sz="1150" b="0" dirty="0">
                <a:ea typeface="PingFang TC"/>
              </a:rPr>
              <a:t>　</a:t>
            </a:r>
            <a:r>
              <a:rPr sz="1150" b="1" dirty="0">
                <a:ea typeface="PingFang TC"/>
              </a:rPr>
              <a:t>97%</a:t>
            </a:r>
            <a:r>
              <a:rPr sz="1150" b="0" dirty="0">
                <a:ea typeface="PingFang TC"/>
              </a:rPr>
              <a:t>（</a:t>
            </a:r>
            <a:r>
              <a:rPr sz="1150" b="0" dirty="0" err="1">
                <a:ea typeface="PingFang TC"/>
              </a:rPr>
              <a:t>隨機</a:t>
            </a:r>
            <a:r>
              <a:rPr sz="1150" b="0" dirty="0">
                <a:ea typeface="PingFang TC"/>
              </a:rPr>
              <a:t> 26%）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150" b="0" dirty="0" err="1">
                <a:ea typeface="PingFang TC"/>
              </a:rPr>
              <a:t>第四期轉移部位相同</a:t>
            </a:r>
            <a:r>
              <a:rPr sz="1150" b="0" dirty="0">
                <a:ea typeface="PingFang TC"/>
              </a:rPr>
              <a:t>　</a:t>
            </a:r>
            <a:r>
              <a:rPr sz="1150" b="1" dirty="0">
                <a:ea typeface="PingFang TC"/>
              </a:rPr>
              <a:t>56%</a:t>
            </a:r>
            <a:r>
              <a:rPr sz="1150" b="0" dirty="0">
                <a:ea typeface="PingFang TC"/>
              </a:rPr>
              <a:t>（</a:t>
            </a:r>
            <a:r>
              <a:rPr sz="1150" b="0" dirty="0" err="1">
                <a:ea typeface="PingFang TC"/>
              </a:rPr>
              <a:t>隨機</a:t>
            </a:r>
            <a:r>
              <a:rPr sz="1150" b="0" dirty="0">
                <a:ea typeface="PingFang TC"/>
              </a:rPr>
              <a:t> 5%）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150" b="0" dirty="0" err="1">
                <a:ea typeface="PingFang TC"/>
              </a:rPr>
              <a:t>腫瘤側別相同</a:t>
            </a:r>
            <a:r>
              <a:rPr sz="1150" b="0" dirty="0">
                <a:ea typeface="PingFang TC"/>
              </a:rPr>
              <a:t>　</a:t>
            </a:r>
            <a:r>
              <a:rPr sz="1150" b="1" dirty="0">
                <a:ea typeface="PingFang TC"/>
              </a:rPr>
              <a:t>68%</a:t>
            </a:r>
            <a:r>
              <a:rPr sz="1150" b="0" dirty="0">
                <a:ea typeface="PingFang TC"/>
              </a:rPr>
              <a:t>（</a:t>
            </a:r>
            <a:r>
              <a:rPr sz="1150" b="0" dirty="0" err="1">
                <a:ea typeface="PingFang TC"/>
              </a:rPr>
              <a:t>隨機</a:t>
            </a:r>
            <a:r>
              <a:rPr sz="1150" b="0" dirty="0">
                <a:ea typeface="PingFang TC"/>
              </a:rPr>
              <a:t> 33%）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150" b="0" dirty="0" err="1">
                <a:ea typeface="PingFang TC"/>
              </a:rPr>
              <a:t>白蛋白</a:t>
            </a:r>
            <a:r>
              <a:rPr sz="1150" b="0" dirty="0">
                <a:ea typeface="PingFang TC"/>
              </a:rPr>
              <a:t> ±0.5　</a:t>
            </a:r>
            <a:r>
              <a:rPr sz="1150" b="1" dirty="0">
                <a:ea typeface="PingFang TC"/>
              </a:rPr>
              <a:t>76%</a:t>
            </a:r>
            <a:r>
              <a:rPr sz="1150" b="0" dirty="0">
                <a:ea typeface="PingFang TC"/>
              </a:rPr>
              <a:t>（</a:t>
            </a:r>
            <a:r>
              <a:rPr sz="1150" b="0" dirty="0" err="1">
                <a:ea typeface="PingFang TC"/>
              </a:rPr>
              <a:t>隨機</a:t>
            </a:r>
            <a:r>
              <a:rPr sz="1150" b="0" dirty="0">
                <a:ea typeface="PingFang TC"/>
              </a:rPr>
              <a:t> 58%）</a:t>
            </a:r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3B28FAC6-C7FA-CE3F-5F01-1F62D3D6AFFB}"/>
              </a:ext>
            </a:extLst>
          </p:cNvPr>
          <p:cNvSpPr/>
          <p:nvPr/>
        </p:nvSpPr>
        <p:spPr>
          <a:xfrm>
            <a:off x="7635240" y="3785615"/>
            <a:ext cx="3995928" cy="1517904"/>
          </a:xfrm>
          <a:prstGeom prst="roundRect">
            <a:avLst>
              <a:gd name="adj" fmla="val 5500"/>
            </a:avLst>
          </a:prstGeom>
          <a:solidFill>
            <a:srgbClr val="FCF0EE"/>
          </a:solidFill>
          <a:ln w="12700">
            <a:solidFill>
              <a:srgbClr val="C2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FFA5590C-717A-24E1-9A24-A6B30034F0B2}"/>
              </a:ext>
            </a:extLst>
          </p:cNvPr>
          <p:cNvSpPr txBox="1"/>
          <p:nvPr/>
        </p:nvSpPr>
        <p:spPr>
          <a:xfrm>
            <a:off x="7872983" y="3931920"/>
            <a:ext cx="3520440" cy="7730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TW" altLang="en-US" sz="1150" b="1" dirty="0">
                <a:ea typeface="PingFang TC"/>
              </a:rPr>
              <a:t>未符合的</a:t>
            </a:r>
            <a:endParaRPr sz="1150" b="1" dirty="0">
              <a:ea typeface="PingFang TC"/>
            </a:endParaRP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150" b="0" dirty="0" err="1">
                <a:ea typeface="PingFang TC"/>
              </a:rPr>
              <a:t>年齡</a:t>
            </a:r>
            <a:r>
              <a:rPr sz="1150" b="0" dirty="0">
                <a:ea typeface="PingFang TC"/>
              </a:rPr>
              <a:t> ±3 </a:t>
            </a:r>
            <a:r>
              <a:rPr sz="1150" b="0" dirty="0" err="1">
                <a:ea typeface="PingFang TC"/>
              </a:rPr>
              <a:t>歲</a:t>
            </a:r>
            <a:r>
              <a:rPr sz="1150" b="0" dirty="0">
                <a:ea typeface="PingFang TC"/>
              </a:rPr>
              <a:t>　</a:t>
            </a:r>
            <a:r>
              <a:rPr sz="1150" b="1" dirty="0">
                <a:ea typeface="PingFang TC"/>
              </a:rPr>
              <a:t>20%</a:t>
            </a:r>
            <a:r>
              <a:rPr sz="1150" b="0" dirty="0">
                <a:ea typeface="PingFang TC"/>
              </a:rPr>
              <a:t>（</a:t>
            </a:r>
            <a:r>
              <a:rPr sz="1150" b="0" dirty="0" err="1">
                <a:ea typeface="PingFang TC"/>
              </a:rPr>
              <a:t>隨機</a:t>
            </a:r>
            <a:r>
              <a:rPr sz="1150" b="0" dirty="0">
                <a:ea typeface="PingFang TC"/>
              </a:rPr>
              <a:t> 15%）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150" b="0" dirty="0" err="1">
                <a:ea typeface="PingFang TC"/>
              </a:rPr>
              <a:t>性別相同</a:t>
            </a:r>
            <a:r>
              <a:rPr sz="1150" b="0" dirty="0">
                <a:ea typeface="PingFang TC"/>
              </a:rPr>
              <a:t>　</a:t>
            </a:r>
            <a:r>
              <a:rPr sz="1150" b="1" dirty="0">
                <a:ea typeface="PingFang TC"/>
              </a:rPr>
              <a:t>55%</a:t>
            </a:r>
            <a:r>
              <a:rPr sz="1150" b="0" dirty="0">
                <a:ea typeface="PingFang TC"/>
              </a:rPr>
              <a:t>（</a:t>
            </a:r>
            <a:r>
              <a:rPr sz="1150" b="0" dirty="0" err="1">
                <a:ea typeface="PingFang TC"/>
              </a:rPr>
              <a:t>隨機</a:t>
            </a:r>
            <a:r>
              <a:rPr sz="1150" b="0" dirty="0">
                <a:ea typeface="PingFang TC"/>
              </a:rPr>
              <a:t> 51%）</a:t>
            </a:r>
          </a:p>
        </p:txBody>
      </p:sp>
      <p:sp>
        <p:nvSpPr>
          <p:cNvPr id="17" name="Rounded Rectangle 10">
            <a:extLst>
              <a:ext uri="{FF2B5EF4-FFF2-40B4-BE49-F238E27FC236}">
                <a16:creationId xmlns:a16="http://schemas.microsoft.com/office/drawing/2014/main" id="{A035A973-3EE7-ACD5-28AF-D47057D9A5AA}"/>
              </a:ext>
            </a:extLst>
          </p:cNvPr>
          <p:cNvSpPr/>
          <p:nvPr/>
        </p:nvSpPr>
        <p:spPr>
          <a:xfrm>
            <a:off x="566928" y="5605272"/>
            <a:ext cx="11064240" cy="822960"/>
          </a:xfrm>
          <a:prstGeom prst="roundRect">
            <a:avLst>
              <a:gd name="adj" fmla="val 5500"/>
            </a:avLst>
          </a:prstGeom>
          <a:solidFill>
            <a:srgbClr val="F5FAFD"/>
          </a:solidFill>
          <a:ln w="12700">
            <a:solidFill>
              <a:srgbClr val="C6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2D85B82C-D815-0B34-99ED-88C87DD0CBF9}"/>
              </a:ext>
            </a:extLst>
          </p:cNvPr>
          <p:cNvSpPr txBox="1"/>
          <p:nvPr/>
        </p:nvSpPr>
        <p:spPr>
          <a:xfrm>
            <a:off x="801624" y="5780437"/>
            <a:ext cx="10588752" cy="4726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dirty="0" err="1">
                <a:ea typeface="PingFang TC"/>
              </a:rPr>
              <a:t>為什麼年齡與性別配不上</a:t>
            </a:r>
            <a:endParaRPr sz="1100" b="1" dirty="0">
              <a:ea typeface="PingFang TC"/>
            </a:endParaRP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100" b="0" dirty="0">
                <a:ea typeface="PingFang TC"/>
              </a:rPr>
              <a:t>FAMD </a:t>
            </a:r>
            <a:r>
              <a:rPr sz="1100" b="0" dirty="0" err="1">
                <a:ea typeface="PingFang TC"/>
              </a:rPr>
              <a:t>是</a:t>
            </a:r>
            <a:r>
              <a:rPr sz="1100" b="1" dirty="0" err="1">
                <a:ea typeface="PingFang TC"/>
              </a:rPr>
              <a:t>無監督</a:t>
            </a:r>
            <a:r>
              <a:rPr sz="1100" b="0" dirty="0" err="1">
                <a:ea typeface="PingFang TC"/>
              </a:rPr>
              <a:t>的，按「資料裡誰變異大」分配權重，沒有被告知醫師覺得年齡重要。年齡分層在第一主軸的貢獻度只有</a:t>
            </a:r>
            <a:r>
              <a:rPr sz="1100" b="0" dirty="0">
                <a:ea typeface="PingFang TC"/>
              </a:rPr>
              <a:t> </a:t>
            </a:r>
            <a:r>
              <a:rPr sz="1100" b="1" dirty="0">
                <a:ea typeface="PingFang TC"/>
              </a:rPr>
              <a:t>0.39%</a:t>
            </a:r>
            <a:r>
              <a:rPr sz="1100" b="0" dirty="0">
                <a:ea typeface="PingFang TC"/>
              </a:rPr>
              <a:t>（23 </a:t>
            </a:r>
            <a:r>
              <a:rPr sz="1100" b="0" dirty="0" err="1">
                <a:ea typeface="PingFang TC"/>
              </a:rPr>
              <a:t>個變數排第</a:t>
            </a:r>
            <a:r>
              <a:rPr sz="1100" b="0" dirty="0">
                <a:ea typeface="PingFang TC"/>
              </a:rPr>
              <a:t> 18）</a:t>
            </a:r>
          </a:p>
        </p:txBody>
      </p:sp>
    </p:spTree>
    <p:extLst>
      <p:ext uri="{BB962C8B-B14F-4D97-AF65-F5344CB8AC3E}">
        <p14:creationId xmlns:p14="http://schemas.microsoft.com/office/powerpoint/2010/main" val="12778504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ea typeface="Calibri"/>
              </a:rPr>
              <a:t>VALIDATION 3  ·  RISK STRATIFICATION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TW" altLang="en-US" sz="3000" b="1" dirty="0">
                <a:ea typeface="Cambria"/>
              </a:rPr>
              <a:t>驗證三：</a:t>
            </a:r>
            <a:r>
              <a:rPr lang="en-US" altLang="zh-TW" sz="3000" b="1" dirty="0">
                <a:ea typeface="Cambria"/>
              </a:rPr>
              <a:t>386 </a:t>
            </a:r>
            <a:r>
              <a:rPr lang="zh-TW" altLang="en-US" sz="3000" b="1" dirty="0">
                <a:ea typeface="Cambria"/>
              </a:rPr>
              <a:t>位真實新病人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89888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ea typeface="PingFang TC"/>
              </a:rPr>
              <a:t>這是最容易懂的一種驗法：讓系統先把人分組，然後我們去看這三組人後來的命運有沒有不一樣。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6428232"/>
            <a:ext cx="615391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1">
                <a:ea typeface="PingFang TC"/>
              </a:rPr>
              <a:t>PROJECT CRC-ORACLE  ·  REAL-WORLD DATA → PERSONALIZED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56816"/>
            <a:ext cx="3639312" cy="1335024"/>
          </a:xfrm>
          <a:prstGeom prst="roundRect">
            <a:avLst>
              <a:gd name="adj" fmla="val 5500"/>
            </a:avLst>
          </a:prstGeom>
          <a:solidFill>
            <a:srgbClr val="F5FAFD"/>
          </a:solidFill>
          <a:ln w="12700">
            <a:solidFill>
              <a:srgbClr val="C6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21408"/>
            <a:ext cx="3127248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50" b="1">
                <a:ea typeface="PingFang TC"/>
              </a:rPr>
              <a:t>01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1">
                <a:ea typeface="PingFang TC"/>
              </a:rPr>
              <a:t>讓系統打分數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050" b="0">
                <a:ea typeface="PingFang TC"/>
              </a:rPr>
              <a:t>把 379 位新病人一個一個丟進系統，每個人都會得到一個「12 個月存活率」的預測值。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956816"/>
            <a:ext cx="3639312" cy="1335024"/>
          </a:xfrm>
          <a:prstGeom prst="roundRect">
            <a:avLst>
              <a:gd name="adj" fmla="val 5500"/>
            </a:avLst>
          </a:prstGeom>
          <a:solidFill>
            <a:srgbClr val="F5FAFD"/>
          </a:solidFill>
          <a:ln w="12700">
            <a:solidFill>
              <a:srgbClr val="C6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35424" y="2121408"/>
            <a:ext cx="3127248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50" b="1">
                <a:ea typeface="PingFang TC"/>
              </a:rPr>
              <a:t>02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1">
                <a:ea typeface="PingFang TC"/>
              </a:rPr>
              <a:t>照分數切成三組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050" b="0">
                <a:ea typeface="PingFang TC"/>
              </a:rPr>
              <a:t>把 379 位依分數從低排到高，平均切三段：最危險的 1/3、中間 1/3、最安全的 1/3。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1956816"/>
            <a:ext cx="3639312" cy="1335024"/>
          </a:xfrm>
          <a:prstGeom prst="roundRect">
            <a:avLst>
              <a:gd name="adj" fmla="val 5500"/>
            </a:avLst>
          </a:prstGeom>
          <a:solidFill>
            <a:srgbClr val="F5FAFD"/>
          </a:solidFill>
          <a:ln w="12700">
            <a:solidFill>
              <a:srgbClr val="C6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47888" y="2121408"/>
            <a:ext cx="3127248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50" b="1">
                <a:ea typeface="PingFang TC"/>
              </a:rPr>
              <a:t>03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1">
                <a:ea typeface="PingFang TC"/>
              </a:rPr>
              <a:t>回頭看他們後來怎麼了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050" b="0">
                <a:ea typeface="PingFang TC"/>
              </a:rPr>
              <a:t>這時才第一次去看實際結果。分組的時候完全沒有看過任何人的結局。</a:t>
            </a:r>
          </a:p>
        </p:txBody>
      </p:sp>
      <p:pic>
        <p:nvPicPr>
          <p:cNvPr id="12" name="Picture 11" descr="ext_fig3_風險三分位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735" y="3346704"/>
            <a:ext cx="6822089" cy="307238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635240" y="3438144"/>
            <a:ext cx="3995928" cy="1005840"/>
          </a:xfrm>
          <a:prstGeom prst="roundRect">
            <a:avLst>
              <a:gd name="adj" fmla="val 5500"/>
            </a:avLst>
          </a:prstGeom>
          <a:solidFill>
            <a:srgbClr val="F5FAFD"/>
          </a:solidFill>
          <a:ln w="12700">
            <a:solidFill>
              <a:srgbClr val="C6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72983" y="3584448"/>
            <a:ext cx="352044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ea typeface="PingFang TC"/>
              </a:rPr>
              <a:t>三條線是什麼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050" b="0">
                <a:ea typeface="PingFang TC"/>
              </a:rPr>
              <a:t>每條線 = 那一組人「隨時間還活著的比例」。從 100% 出發，每有一位過世就往下掉一階。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572000"/>
            <a:ext cx="3995928" cy="1060704"/>
          </a:xfrm>
          <a:prstGeom prst="roundRect">
            <a:avLst>
              <a:gd name="adj" fmla="val 5500"/>
            </a:avLst>
          </a:prstGeom>
          <a:solidFill>
            <a:srgbClr val="ECF7F2"/>
          </a:solidFill>
          <a:ln w="12700">
            <a:solidFill>
              <a:srgbClr val="2F9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72983" y="4718304"/>
            <a:ext cx="3520440" cy="7680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ea typeface="PingFang TC"/>
              </a:rPr>
              <a:t>怎麼判斷系統有沒有用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050" b="0">
                <a:ea typeface="PingFang TC"/>
              </a:rPr>
              <a:t>如果系統是亂猜的，</a:t>
            </a:r>
            <a:r>
              <a:rPr sz="1050" b="1">
                <a:ea typeface="PingFang TC"/>
              </a:rPr>
              <a:t>三條線會纏在一起</a:t>
            </a:r>
            <a:r>
              <a:rPr sz="1050" b="0">
                <a:ea typeface="PingFang TC"/>
              </a:rPr>
              <a:t>。實際上三條線一路分開，順序也完全正確。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5724144"/>
            <a:ext cx="3995928" cy="694944"/>
          </a:xfrm>
          <a:prstGeom prst="roundRect">
            <a:avLst>
              <a:gd name="adj" fmla="val 5500"/>
            </a:avLst>
          </a:prstGeom>
          <a:solidFill>
            <a:srgbClr val="F5FAFD"/>
          </a:solidFill>
          <a:ln w="12700">
            <a:solidFill>
              <a:srgbClr val="C6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72983" y="5870448"/>
            <a:ext cx="352044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ea typeface="PingFang TC"/>
              </a:rPr>
              <a:t>最危險那組一年走了 28 位，最安全那組只走了 1 位——差 28 倍。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ea typeface="Calibri"/>
              </a:rPr>
              <a:t>CONCLUSION  ·  WHAT STANDS AND WHAT DOESN'T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ea typeface="Cambria"/>
              </a:rPr>
              <a:t>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89888"/>
            <a:ext cx="11064240" cy="5153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b="0" dirty="0" err="1">
                <a:ea typeface="PingFang TC"/>
              </a:rPr>
              <a:t>這套系統撈出來的人，在醫師的臨床尺度上確實比隨機像得多；在沒看過的真實新病人身上</a:t>
            </a:r>
            <a:r>
              <a:rPr lang="zh-TW" altLang="en-US" sz="1300" b="0" dirty="0">
                <a:ea typeface="PingFang TC"/>
              </a:rPr>
              <a:t>也</a:t>
            </a:r>
            <a:r>
              <a:rPr lang="zh-TW" altLang="en-US" sz="1300" dirty="0">
                <a:ea typeface="PingFang TC"/>
              </a:rPr>
              <a:t>算出來的存活率排序</a:t>
            </a:r>
            <a:r>
              <a:rPr sz="1300" b="0" dirty="0">
                <a:ea typeface="PingFang TC"/>
              </a:rPr>
              <a:t>。</a:t>
            </a:r>
            <a:endParaRPr lang="en-US" sz="1300" b="0" dirty="0">
              <a:ea typeface="PingFang TC"/>
            </a:endParaRPr>
          </a:p>
          <a:p>
            <a:pPr>
              <a:lnSpc>
                <a:spcPct val="135000"/>
              </a:lnSpc>
            </a:pPr>
            <a:r>
              <a:rPr sz="1300" b="0" dirty="0" err="1">
                <a:ea typeface="PingFang TC"/>
              </a:rPr>
              <a:t>但</a:t>
            </a:r>
            <a:r>
              <a:rPr lang="zh-TW" altLang="en-US" sz="1300" b="0" dirty="0">
                <a:ea typeface="PingFang TC"/>
              </a:rPr>
              <a:t>目前最需要改進的是</a:t>
            </a:r>
            <a:r>
              <a:rPr sz="1300" b="0" dirty="0" err="1">
                <a:ea typeface="PingFang TC"/>
              </a:rPr>
              <a:t>年齡</a:t>
            </a:r>
            <a:r>
              <a:rPr lang="zh-TW" altLang="en-US" sz="1300" dirty="0">
                <a:ea typeface="PingFang TC"/>
              </a:rPr>
              <a:t>部分，因為臨床上年齡跟存活率有顯著相關</a:t>
            </a:r>
            <a:r>
              <a:rPr sz="1300" b="0" dirty="0">
                <a:ea typeface="PingFang TC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6428232"/>
            <a:ext cx="615391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1">
                <a:ea typeface="PingFang TC"/>
              </a:rPr>
              <a:t>PROJECT CRC-ORACLE  ·  REAL-WORLD DATA → PERSONALIZED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103120"/>
            <a:ext cx="5486400" cy="2249424"/>
          </a:xfrm>
          <a:prstGeom prst="roundRect">
            <a:avLst>
              <a:gd name="adj" fmla="val 5500"/>
            </a:avLst>
          </a:prstGeom>
          <a:solidFill>
            <a:srgbClr val="ECF7F2"/>
          </a:solidFill>
          <a:ln w="12700">
            <a:solidFill>
              <a:srgbClr val="2F9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2249424"/>
            <a:ext cx="5010912" cy="15067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lang="en-US" sz="1100" b="0" dirty="0" err="1">
                <a:ea typeface="PingFang TC"/>
              </a:rPr>
              <a:t>驗證結果</a:t>
            </a:r>
            <a:endParaRPr lang="en-US" sz="1100" b="0" dirty="0">
              <a:ea typeface="PingFang TC"/>
            </a:endParaRPr>
          </a:p>
          <a:p>
            <a:pPr marL="228600" indent="-228600" algn="l">
              <a:lnSpc>
                <a:spcPct val="130000"/>
              </a:lnSpc>
              <a:spcBef>
                <a:spcPts val="400"/>
              </a:spcBef>
              <a:buAutoNum type="arabicPeriod"/>
            </a:pPr>
            <a:r>
              <a:rPr sz="1100" b="0" dirty="0" err="1">
                <a:ea typeface="PingFang TC"/>
              </a:rPr>
              <a:t>醫師手挑的</a:t>
            </a:r>
            <a:r>
              <a:rPr sz="1100" b="0" dirty="0">
                <a:ea typeface="PingFang TC"/>
              </a:rPr>
              <a:t> 140 位，</a:t>
            </a:r>
            <a:r>
              <a:rPr sz="1100" b="1" dirty="0">
                <a:ea typeface="PingFang TC"/>
              </a:rPr>
              <a:t>30.7%</a:t>
            </a:r>
            <a:r>
              <a:rPr sz="1100" b="0" dirty="0">
                <a:ea typeface="PingFang TC"/>
              </a:rPr>
              <a:t> </a:t>
            </a:r>
            <a:r>
              <a:rPr sz="1100" b="0" dirty="0" err="1">
                <a:ea typeface="PingFang TC"/>
              </a:rPr>
              <a:t>落在前</a:t>
            </a:r>
            <a:r>
              <a:rPr sz="1100" b="0" dirty="0">
                <a:ea typeface="PingFang TC"/>
              </a:rPr>
              <a:t> 200 </a:t>
            </a:r>
            <a:r>
              <a:rPr sz="1100" b="0" dirty="0" err="1">
                <a:ea typeface="PingFang TC"/>
              </a:rPr>
              <a:t>名</a:t>
            </a:r>
            <a:r>
              <a:rPr sz="1100" b="0" dirty="0">
                <a:ea typeface="PingFang TC"/>
              </a:rPr>
              <a:t>—</a:t>
            </a:r>
            <a:r>
              <a:rPr sz="1100" b="0" dirty="0" err="1">
                <a:ea typeface="PingFang TC"/>
              </a:rPr>
              <a:t>是亂數的</a:t>
            </a:r>
            <a:r>
              <a:rPr sz="1100" b="0" dirty="0">
                <a:ea typeface="PingFang TC"/>
              </a:rPr>
              <a:t> 19 倍，也是重疊上限（36%）</a:t>
            </a:r>
            <a:r>
              <a:rPr sz="1100" b="0" dirty="0" err="1">
                <a:ea typeface="PingFang TC"/>
              </a:rPr>
              <a:t>的</a:t>
            </a:r>
            <a:r>
              <a:rPr sz="1100" b="0" dirty="0">
                <a:ea typeface="PingFang TC"/>
              </a:rPr>
              <a:t> 86%</a:t>
            </a:r>
            <a:endParaRPr lang="en-US" sz="1100" b="0" dirty="0">
              <a:ea typeface="PingFang TC"/>
            </a:endParaRPr>
          </a:p>
          <a:p>
            <a:pPr marL="228600" indent="-228600" algn="l">
              <a:lnSpc>
                <a:spcPct val="130000"/>
              </a:lnSpc>
              <a:spcBef>
                <a:spcPts val="400"/>
              </a:spcBef>
              <a:buAutoNum type="arabicPeriod"/>
            </a:pPr>
            <a:r>
              <a:rPr sz="1100" b="0" dirty="0" err="1">
                <a:ea typeface="PingFang TC"/>
              </a:rPr>
              <a:t>臨床尺度有</a:t>
            </a:r>
            <a:r>
              <a:rPr sz="1100" b="0" dirty="0">
                <a:ea typeface="PingFang TC"/>
              </a:rPr>
              <a:t> 6 </a:t>
            </a:r>
            <a:r>
              <a:rPr sz="1100" b="0" dirty="0" err="1">
                <a:ea typeface="PingFang TC"/>
              </a:rPr>
              <a:t>條明顯勝過隨機：期別</a:t>
            </a:r>
            <a:r>
              <a:rPr sz="1100" b="0" dirty="0">
                <a:ea typeface="PingFang TC"/>
              </a:rPr>
              <a:t> </a:t>
            </a:r>
            <a:r>
              <a:rPr sz="1100" b="1" dirty="0">
                <a:ea typeface="PingFang TC"/>
              </a:rPr>
              <a:t>97% vs 26%</a:t>
            </a:r>
            <a:r>
              <a:rPr sz="1100" b="0" dirty="0">
                <a:ea typeface="PingFang TC"/>
              </a:rPr>
              <a:t>、</a:t>
            </a:r>
            <a:r>
              <a:rPr sz="1100" b="0" dirty="0" err="1">
                <a:ea typeface="PingFang TC"/>
              </a:rPr>
              <a:t>第四期轉移部位</a:t>
            </a:r>
            <a:r>
              <a:rPr sz="1100" b="0" dirty="0">
                <a:ea typeface="PingFang TC"/>
              </a:rPr>
              <a:t> </a:t>
            </a:r>
            <a:r>
              <a:rPr sz="1100" b="1" dirty="0">
                <a:ea typeface="PingFang TC"/>
              </a:rPr>
              <a:t>56% vs 5%</a:t>
            </a:r>
            <a:endParaRPr lang="en-US" sz="1100" b="1" dirty="0">
              <a:ea typeface="PingFang TC"/>
            </a:endParaRPr>
          </a:p>
          <a:p>
            <a:pPr marL="228600" indent="-228600" algn="l">
              <a:lnSpc>
                <a:spcPct val="130000"/>
              </a:lnSpc>
              <a:spcBef>
                <a:spcPts val="400"/>
              </a:spcBef>
              <a:buAutoNum type="arabicPeriod"/>
            </a:pPr>
            <a:r>
              <a:rPr lang="zh-TW" altLang="en-US" sz="1100" dirty="0">
                <a:ea typeface="PingFang TC"/>
              </a:rPr>
              <a:t>新的</a:t>
            </a:r>
            <a:r>
              <a:rPr lang="en-US" altLang="zh-TW" sz="1100" dirty="0">
                <a:ea typeface="PingFang TC"/>
              </a:rPr>
              <a:t>386</a:t>
            </a:r>
            <a:r>
              <a:rPr lang="zh-TW" altLang="en-US" sz="1100" dirty="0">
                <a:ea typeface="PingFang TC"/>
              </a:rPr>
              <a:t>位病人依照</a:t>
            </a:r>
            <a:r>
              <a:rPr sz="1100" b="0" dirty="0" err="1">
                <a:ea typeface="PingFang TC"/>
              </a:rPr>
              <a:t>統事先分的三組，一年後實際存活</a:t>
            </a:r>
            <a:r>
              <a:rPr lang="zh-TW" altLang="en-US" sz="1100" dirty="0">
                <a:ea typeface="PingFang TC"/>
              </a:rPr>
              <a:t>率可以分得開：</a:t>
            </a:r>
            <a:r>
              <a:rPr sz="1100" b="1" dirty="0">
                <a:ea typeface="PingFang TC"/>
              </a:rPr>
              <a:t>77.8% ／ 91.2% ／ 99.2%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2103120"/>
            <a:ext cx="5486400" cy="2249424"/>
          </a:xfrm>
          <a:prstGeom prst="roundRect">
            <a:avLst>
              <a:gd name="adj" fmla="val 5500"/>
            </a:avLst>
          </a:prstGeom>
          <a:solidFill>
            <a:srgbClr val="FCF0EE"/>
          </a:solidFill>
          <a:ln w="12700">
            <a:solidFill>
              <a:srgbClr val="C2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2" y="2249424"/>
            <a:ext cx="5010912" cy="9640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100" b="1" dirty="0" err="1">
                <a:ea typeface="PingFang TC"/>
              </a:rPr>
              <a:t>兩</a:t>
            </a:r>
            <a:r>
              <a:rPr sz="1100" b="1" dirty="0" err="1">
                <a:ea typeface="PingFang TC"/>
              </a:rPr>
              <a:t>個</a:t>
            </a:r>
            <a:r>
              <a:rPr lang="zh-TW" altLang="en-US" sz="1100" b="1" dirty="0">
                <a:ea typeface="PingFang TC"/>
              </a:rPr>
              <a:t>仍待改善的點</a:t>
            </a:r>
            <a:endParaRPr sz="1100" b="1" dirty="0">
              <a:ea typeface="PingFang TC"/>
            </a:endParaRPr>
          </a:p>
          <a:p>
            <a:pPr marL="228600" indent="-228600" algn="l">
              <a:lnSpc>
                <a:spcPct val="130000"/>
              </a:lnSpc>
              <a:spcBef>
                <a:spcPts val="400"/>
              </a:spcBef>
              <a:buAutoNum type="arabicPeriod"/>
            </a:pPr>
            <a:r>
              <a:rPr sz="1100" b="1" dirty="0" err="1">
                <a:ea typeface="PingFang TC"/>
              </a:rPr>
              <a:t>年齡與性別幾乎</a:t>
            </a:r>
            <a:r>
              <a:rPr lang="zh-TW" altLang="en-US" sz="1100" b="1" dirty="0">
                <a:ea typeface="PingFang TC"/>
              </a:rPr>
              <a:t>沒有被納入計算</a:t>
            </a:r>
            <a:r>
              <a:rPr sz="1100" b="0" dirty="0">
                <a:ea typeface="PingFang TC"/>
              </a:rPr>
              <a:t>（</a:t>
            </a:r>
            <a:r>
              <a:rPr sz="1100" b="0" dirty="0" err="1">
                <a:ea typeface="PingFang TC"/>
              </a:rPr>
              <a:t>年齡</a:t>
            </a:r>
            <a:r>
              <a:rPr sz="1100" b="0" dirty="0">
                <a:ea typeface="PingFang TC"/>
              </a:rPr>
              <a:t> ±3 </a:t>
            </a:r>
            <a:r>
              <a:rPr sz="1100" b="0" dirty="0" err="1">
                <a:ea typeface="PingFang TC"/>
              </a:rPr>
              <a:t>歲僅</a:t>
            </a:r>
            <a:r>
              <a:rPr sz="1100" b="0" dirty="0">
                <a:ea typeface="PingFang TC"/>
              </a:rPr>
              <a:t> 20%）—</a:t>
            </a:r>
            <a:r>
              <a:rPr sz="1100" b="0" dirty="0" err="1">
                <a:ea typeface="PingFang TC"/>
              </a:rPr>
              <a:t>模型給年齡的權重只有第一主軸的</a:t>
            </a:r>
            <a:r>
              <a:rPr sz="1100" b="0" dirty="0">
                <a:ea typeface="PingFang TC"/>
              </a:rPr>
              <a:t> 0.39%；≥85 </a:t>
            </a:r>
            <a:r>
              <a:rPr sz="1100" b="0" dirty="0" err="1">
                <a:ea typeface="PingFang TC"/>
              </a:rPr>
              <a:t>歲高估</a:t>
            </a:r>
            <a:r>
              <a:rPr sz="1100" b="0" dirty="0">
                <a:ea typeface="PingFang TC"/>
              </a:rPr>
              <a:t> 11.1 </a:t>
            </a:r>
            <a:r>
              <a:rPr sz="1100" b="0" dirty="0" err="1">
                <a:ea typeface="PingFang TC"/>
              </a:rPr>
              <a:t>個百分點（n</a:t>
            </a:r>
            <a:r>
              <a:rPr sz="1100" b="0" dirty="0">
                <a:ea typeface="PingFang TC"/>
              </a:rPr>
              <a:t>=19，是提示不是定論）</a:t>
            </a:r>
            <a:endParaRPr lang="en-US" sz="1100" b="0" dirty="0">
              <a:ea typeface="PingFang TC"/>
            </a:endParaRPr>
          </a:p>
          <a:p>
            <a:pPr marL="228600" indent="-228600" algn="l">
              <a:lnSpc>
                <a:spcPct val="130000"/>
              </a:lnSpc>
              <a:spcBef>
                <a:spcPts val="400"/>
              </a:spcBef>
              <a:buAutoNum type="arabicPeriod"/>
            </a:pPr>
            <a:r>
              <a:rPr sz="1100" b="1" dirty="0">
                <a:ea typeface="PingFang TC"/>
              </a:rPr>
              <a:t>5 </a:t>
            </a:r>
            <a:r>
              <a:rPr sz="1100" b="1" dirty="0" err="1">
                <a:ea typeface="PingFang TC"/>
              </a:rPr>
              <a:t>年存活率尚無外部證據</a:t>
            </a:r>
            <a:endParaRPr sz="1100" b="0" dirty="0">
              <a:ea typeface="PingFang TC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6928" y="4517136"/>
            <a:ext cx="5486400" cy="1444752"/>
          </a:xfrm>
          <a:prstGeom prst="roundRect">
            <a:avLst>
              <a:gd name="adj" fmla="val 5500"/>
            </a:avLst>
          </a:prstGeom>
          <a:solidFill>
            <a:srgbClr val="F5FAFD"/>
          </a:solidFill>
          <a:ln w="12700">
            <a:solidFill>
              <a:srgbClr val="C6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4663440"/>
            <a:ext cx="5010912" cy="100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dirty="0" err="1">
                <a:ea typeface="PingFang TC"/>
              </a:rPr>
              <a:t>這套系統真正的價值</a:t>
            </a:r>
            <a:endParaRPr sz="1150" b="1" dirty="0">
              <a:ea typeface="PingFang TC"/>
            </a:endParaRP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150" b="0" dirty="0" err="1">
                <a:ea typeface="PingFang TC"/>
              </a:rPr>
              <a:t>它給</a:t>
            </a:r>
            <a:r>
              <a:rPr lang="zh-TW" altLang="en-US" sz="1150" b="0" dirty="0">
                <a:ea typeface="PingFang TC"/>
              </a:rPr>
              <a:t>出</a:t>
            </a:r>
            <a:r>
              <a:rPr lang="zh-TW" altLang="en-US" sz="1150" b="1" dirty="0">
                <a:ea typeface="PingFang TC"/>
              </a:rPr>
              <a:t>跟來訪病人很像的一群</a:t>
            </a:r>
            <a:r>
              <a:rPr sz="1150" b="1" dirty="0" err="1">
                <a:ea typeface="PingFang TC"/>
              </a:rPr>
              <a:t>真實病人的病歷</a:t>
            </a:r>
            <a:r>
              <a:rPr sz="1150" b="1" dirty="0">
                <a:ea typeface="PingFang TC"/>
              </a:rPr>
              <a:t> ＋ </a:t>
            </a:r>
            <a:r>
              <a:rPr sz="1150" b="1" dirty="0" err="1">
                <a:ea typeface="PingFang TC"/>
              </a:rPr>
              <a:t>他們實際的存活曲線</a:t>
            </a:r>
            <a:endParaRPr lang="en-US" sz="1150" b="0" dirty="0">
              <a:ea typeface="PingFang TC"/>
            </a:endParaRP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150" b="0" dirty="0" err="1">
                <a:ea typeface="PingFang TC"/>
              </a:rPr>
              <a:t>醫師</a:t>
            </a:r>
            <a:r>
              <a:rPr lang="zh-TW" altLang="en-US" sz="1150" b="0" dirty="0">
                <a:ea typeface="PingFang TC"/>
              </a:rPr>
              <a:t>可以快速知道跟這個病人相像的那一群病人</a:t>
            </a:r>
            <a:r>
              <a:rPr sz="1150" b="0" dirty="0">
                <a:ea typeface="PingFang TC"/>
              </a:rPr>
              <a:t>「</a:t>
            </a:r>
            <a:r>
              <a:rPr sz="1150" b="0" dirty="0" err="1">
                <a:ea typeface="PingFang TC"/>
              </a:rPr>
              <a:t>後來怎麼了</a:t>
            </a:r>
            <a:r>
              <a:rPr sz="1150" b="0" dirty="0">
                <a:ea typeface="PingFang TC"/>
              </a:rPr>
              <a:t>」。</a:t>
            </a:r>
            <a:r>
              <a:rPr lang="zh-TW" altLang="en-US" sz="1150" b="0" dirty="0">
                <a:ea typeface="PingFang TC"/>
              </a:rPr>
              <a:t>進而給出一個有統計數據的存活率，也可以從大數據中來看到更多可能影響存活率的因素</a:t>
            </a:r>
            <a:endParaRPr sz="1150" b="0" dirty="0">
              <a:ea typeface="PingFang TC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44768" y="4517136"/>
            <a:ext cx="5486400" cy="1444752"/>
          </a:xfrm>
          <a:prstGeom prst="roundRect">
            <a:avLst>
              <a:gd name="adj" fmla="val 5500"/>
            </a:avLst>
          </a:prstGeom>
          <a:solidFill>
            <a:srgbClr val="F5FAFD"/>
          </a:solidFill>
          <a:ln w="12700">
            <a:solidFill>
              <a:srgbClr val="C6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4663440"/>
            <a:ext cx="5010912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ea typeface="PingFang TC"/>
              </a:rPr>
              <a:t>下一步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150" b="0">
                <a:ea typeface="PingFang TC"/>
              </a:rPr>
              <a:t>① 把年齡放進檢索距離（已驗證可行，能把年齡配對拉到 90% 以上）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150" b="0">
                <a:ea typeface="PingFang TC"/>
              </a:rPr>
              <a:t>② 這 379 位持續追蹤，滿 3 年後補做長期外部驗證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150" b="0">
                <a:ea typeface="PingFang TC"/>
              </a:rPr>
              <a:t>③ 用新世代資料重新訓練，修正整體偏樂觀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3305</Words>
  <Application>Microsoft Macintosh PowerPoint</Application>
  <DocSecurity>0</DocSecurity>
  <PresentationFormat>Widescreen</PresentationFormat>
  <Paragraphs>451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PingFang TC</vt:lpstr>
      <vt:lpstr>Arial</vt:lpstr>
      <vt:lpstr>Calibri</vt:lpstr>
      <vt:lpstr>Cambria</vt:lpstr>
      <vt:lpstr>Consolas</vt:lpstr>
      <vt:lpstr>ChatGPT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Steven Chen</cp:lastModifiedBy>
  <cp:revision>5</cp:revision>
  <dcterms:created xsi:type="dcterms:W3CDTF">2026-09-03T09:59:56Z</dcterms:created>
  <dcterms:modified xsi:type="dcterms:W3CDTF">2026-09-09T09:59:37Z</dcterms:modified>
</cp:coreProperties>
</file>